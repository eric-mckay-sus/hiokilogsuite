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822" r:id="rId3"/>
    <p:sldId id="2823" r:id="rId4"/>
    <p:sldId id="2824" r:id="rId5"/>
    <p:sldId id="2819" r:id="rId6"/>
    <p:sldId id="2807" r:id="rId7"/>
    <p:sldId id="2808" r:id="rId8"/>
    <p:sldId id="2809" r:id="rId9"/>
    <p:sldId id="2813" r:id="rId10"/>
    <p:sldId id="2812" r:id="rId11"/>
    <p:sldId id="2810" r:id="rId12"/>
    <p:sldId id="2811" r:id="rId13"/>
    <p:sldId id="2821" r:id="rId14"/>
    <p:sldId id="2820" r:id="rId15"/>
    <p:sldId id="2818" r:id="rId16"/>
    <p:sldId id="2815" r:id="rId17"/>
    <p:sldId id="2816" r:id="rId18"/>
    <p:sldId id="281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Running the program" id="{CAF65D99-EAB2-4354-A08A-957106E094F4}">
          <p14:sldIdLst>
            <p14:sldId id="2822"/>
            <p14:sldId id="2823"/>
            <p14:sldId id="2824"/>
          </p14:sldIdLst>
        </p14:section>
        <p14:section name="Summary Section" id="{1092B080-68E4-43C4-A6BB-FC3C4BF79DF6}">
          <p14:sldIdLst>
            <p14:sldId id="2819"/>
          </p14:sldIdLst>
        </p14:section>
        <p14:section name="Power search page" id="{7953E210-EE80-43B6-973A-E207864F8870}">
          <p14:sldIdLst>
            <p14:sldId id="2807"/>
            <p14:sldId id="2808"/>
            <p14:sldId id="2809"/>
            <p14:sldId id="2813"/>
            <p14:sldId id="2812"/>
            <p14:sldId id="2810"/>
            <p14:sldId id="2811"/>
            <p14:sldId id="2821"/>
            <p14:sldId id="2820"/>
          </p14:sldIdLst>
        </p14:section>
        <p14:section name="VQ pages" id="{F1F653EE-3F9C-4EFD-8CE4-892DE2283B17}">
          <p14:sldIdLst>
            <p14:sldId id="2818"/>
          </p14:sldIdLst>
        </p14:section>
        <p14:section name="Group table VQ page" id="{6CE7CD9C-2386-4479-8C34-F19D2C833D3C}">
          <p14:sldIdLst>
            <p14:sldId id="2815"/>
          </p14:sldIdLst>
        </p14:section>
        <p14:section name="Step table VQ page" id="{E059FA79-F2B9-477F-B036-1CA427A041EF}">
          <p14:sldIdLst>
            <p14:sldId id="2816"/>
          </p14:sldIdLst>
        </p14:section>
        <p14:section name="FCT table VQ page" id="{B3499BAD-9CFD-4299-BDA4-8843225530E5}">
          <p14:sldIdLst>
            <p14:sldId id="281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94660"/>
  </p:normalViewPr>
  <p:slideViewPr>
    <p:cSldViewPr snapToGrid="0">
      <p:cViewPr varScale="1">
        <p:scale>
          <a:sx n="102" d="100"/>
          <a:sy n="102" d="100"/>
        </p:scale>
        <p:origin x="1032" y="84"/>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5/21/2026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5/21/2026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5/21/2026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image" Target="../media/image11.png"/><Relationship Id="rId7" Type="http://schemas.openxmlformats.org/officeDocument/2006/relationships/slide" Target="slide16.xml"/><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slide" Target="slide18.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5.png"/><Relationship Id="rId7" Type="http://schemas.openxmlformats.org/officeDocument/2006/relationships/slide" Target="slide17.xml"/><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27.png"/><Relationship Id="rId5" Type="http://schemas.openxmlformats.org/officeDocument/2006/relationships/image" Target="../media/image25.png"/><Relationship Id="rId10" Type="http://schemas.openxmlformats.org/officeDocument/2006/relationships/slide" Target="slide18.xml"/><Relationship Id="rId4" Type="http://schemas.openxmlformats.org/officeDocument/2006/relationships/slide" Target="slide16.xml"/><Relationship Id="rId9"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err="1">
                <a:solidFill>
                  <a:srgbClr val="10245A"/>
                </a:solidFill>
                <a:latin typeface="Arial" panose="020B0604020202020204" pitchFamily="34" charset="0"/>
                <a:cs typeface="Arial" panose="020B0604020202020204" pitchFamily="34" charset="0"/>
              </a:rPr>
              <a:t>Hioki</a:t>
            </a:r>
            <a:r>
              <a:rPr lang="en-US" sz="2800" b="1" dirty="0">
                <a:solidFill>
                  <a:srgbClr val="10245A"/>
                </a:solidFill>
                <a:latin typeface="Arial" panose="020B0604020202020204" pitchFamily="34" charset="0"/>
                <a:cs typeface="Arial" panose="020B0604020202020204" pitchFamily="34" charset="0"/>
              </a:rPr>
              <a:t> ICT Database search application</a:t>
            </a:r>
          </a:p>
          <a:p>
            <a:pPr algn="ctr"/>
            <a:r>
              <a:rPr lang="en-US" sz="2800" b="1" dirty="0">
                <a:solidFill>
                  <a:srgbClr val="10245A"/>
                </a:solidFill>
                <a:latin typeface="Arial" panose="020B0604020202020204" pitchFamily="34" charset="0"/>
                <a:cs typeface="Arial" panose="020B0604020202020204" pitchFamily="34" charset="0"/>
              </a:rPr>
              <a:t>Date (2026.02.26)</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326CB-CE0B-A4EE-C69B-438FC23EBE55}"/>
              </a:ext>
            </a:extLst>
          </p:cNvPr>
          <p:cNvSpPr>
            <a:spLocks noGrp="1"/>
          </p:cNvSpPr>
          <p:nvPr>
            <p:ph type="title"/>
          </p:nvPr>
        </p:nvSpPr>
        <p:spPr/>
        <p:txBody>
          <a:bodyPr>
            <a:normAutofit fontScale="90000"/>
          </a:bodyPr>
          <a:lstStyle/>
          <a:p>
            <a:r>
              <a:rPr lang="en-US" dirty="0"/>
              <a:t>Running the program</a:t>
            </a:r>
          </a:p>
        </p:txBody>
      </p:sp>
      <p:sp>
        <p:nvSpPr>
          <p:cNvPr id="10" name="TextBox 9">
            <a:extLst>
              <a:ext uri="{FF2B5EF4-FFF2-40B4-BE49-F238E27FC236}">
                <a16:creationId xmlns:a16="http://schemas.microsoft.com/office/drawing/2014/main" id="{50062DE6-33DA-C0B4-7869-F8B5714E85B1}"/>
              </a:ext>
            </a:extLst>
          </p:cNvPr>
          <p:cNvSpPr txBox="1"/>
          <p:nvPr/>
        </p:nvSpPr>
        <p:spPr>
          <a:xfrm>
            <a:off x="1" y="3429000"/>
            <a:ext cx="12192000" cy="1477328"/>
          </a:xfrm>
          <a:prstGeom prst="rect">
            <a:avLst/>
          </a:prstGeom>
          <a:noFill/>
        </p:spPr>
        <p:txBody>
          <a:bodyPr wrap="square" rtlCol="0">
            <a:spAutoFit/>
          </a:bodyPr>
          <a:lstStyle/>
          <a:p>
            <a:r>
              <a:rPr lang="en-US" dirty="0"/>
              <a:t>The folder with the program resides at the path P:/PE III/Personal/Eric/Projects/+</a:t>
            </a:r>
            <a:r>
              <a:rPr lang="en-US" dirty="0" err="1"/>
              <a:t>HiokiInterfaceExecutable</a:t>
            </a:r>
            <a:r>
              <a:rPr lang="en-US" dirty="0"/>
              <a:t> as of 2026-05-21. It should look something like this. Files without a ‘+’ are for the program and should not be touched.</a:t>
            </a:r>
          </a:p>
          <a:p>
            <a:endParaRPr lang="en-US" dirty="0"/>
          </a:p>
          <a:p>
            <a:r>
              <a:rPr lang="en-US" dirty="0"/>
              <a:t>Before you run the .exe, make sure to run +loadDbEnv.bat (or just </a:t>
            </a:r>
            <a:r>
              <a:rPr lang="en-US" dirty="0" err="1"/>
              <a:t>loadDbEnv</a:t>
            </a:r>
            <a:r>
              <a:rPr lang="en-US" dirty="0"/>
              <a:t> if you hide file extensions) first, otherwise you’ll just see the following:</a:t>
            </a:r>
          </a:p>
        </p:txBody>
      </p:sp>
      <p:pic>
        <p:nvPicPr>
          <p:cNvPr id="20" name="Picture 19">
            <a:extLst>
              <a:ext uri="{FF2B5EF4-FFF2-40B4-BE49-F238E27FC236}">
                <a16:creationId xmlns:a16="http://schemas.microsoft.com/office/drawing/2014/main" id="{1D8E4B7E-1983-DFDA-187B-310F26DDA648}"/>
              </a:ext>
            </a:extLst>
          </p:cNvPr>
          <p:cNvPicPr>
            <a:picLocks noChangeAspect="1"/>
          </p:cNvPicPr>
          <p:nvPr/>
        </p:nvPicPr>
        <p:blipFill>
          <a:blip r:embed="rId2"/>
          <a:srcRect l="58307" t="20928" r="6224" b="25183"/>
          <a:stretch>
            <a:fillRect/>
          </a:stretch>
        </p:blipFill>
        <p:spPr>
          <a:xfrm>
            <a:off x="3440784" y="4559326"/>
            <a:ext cx="5379366" cy="2298673"/>
          </a:xfrm>
          <a:prstGeom prst="rect">
            <a:avLst/>
          </a:prstGeom>
        </p:spPr>
      </p:pic>
      <p:pic>
        <p:nvPicPr>
          <p:cNvPr id="4" name="Picture 3">
            <a:extLst>
              <a:ext uri="{FF2B5EF4-FFF2-40B4-BE49-F238E27FC236}">
                <a16:creationId xmlns:a16="http://schemas.microsoft.com/office/drawing/2014/main" id="{60E5778C-A466-DC6F-B7A2-22B9A0F712CF}"/>
              </a:ext>
            </a:extLst>
          </p:cNvPr>
          <p:cNvPicPr>
            <a:picLocks noChangeAspect="1"/>
          </p:cNvPicPr>
          <p:nvPr/>
        </p:nvPicPr>
        <p:blipFill>
          <a:blip r:embed="rId3"/>
          <a:stretch>
            <a:fillRect/>
          </a:stretch>
        </p:blipFill>
        <p:spPr>
          <a:xfrm>
            <a:off x="3878754" y="905060"/>
            <a:ext cx="4434491" cy="2495758"/>
          </a:xfrm>
          <a:prstGeom prst="rect">
            <a:avLst/>
          </a:prstGeom>
        </p:spPr>
      </p:pic>
    </p:spTree>
    <p:extLst>
      <p:ext uri="{BB962C8B-B14F-4D97-AF65-F5344CB8AC3E}">
        <p14:creationId xmlns:p14="http://schemas.microsoft.com/office/powerpoint/2010/main" val="3401477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F36A7-85E7-EC80-9460-38139C857C2B}"/>
              </a:ext>
            </a:extLst>
          </p:cNvPr>
          <p:cNvSpPr>
            <a:spLocks noGrp="1"/>
          </p:cNvSpPr>
          <p:nvPr>
            <p:ph type="title"/>
          </p:nvPr>
        </p:nvSpPr>
        <p:spPr/>
        <p:txBody>
          <a:bodyPr>
            <a:normAutofit fontScale="90000"/>
          </a:bodyPr>
          <a:lstStyle/>
          <a:p>
            <a:r>
              <a:rPr lang="en-US" dirty="0"/>
              <a:t>The .bat file</a:t>
            </a:r>
          </a:p>
        </p:txBody>
      </p:sp>
      <p:pic>
        <p:nvPicPr>
          <p:cNvPr id="5" name="Picture 4">
            <a:extLst>
              <a:ext uri="{FF2B5EF4-FFF2-40B4-BE49-F238E27FC236}">
                <a16:creationId xmlns:a16="http://schemas.microsoft.com/office/drawing/2014/main" id="{5475C115-29DE-85A5-CF01-0E9CE390E277}"/>
              </a:ext>
            </a:extLst>
          </p:cNvPr>
          <p:cNvPicPr>
            <a:picLocks noChangeAspect="1"/>
          </p:cNvPicPr>
          <p:nvPr/>
        </p:nvPicPr>
        <p:blipFill>
          <a:blip r:embed="rId2"/>
          <a:stretch>
            <a:fillRect/>
          </a:stretch>
        </p:blipFill>
        <p:spPr>
          <a:xfrm>
            <a:off x="7450523" y="929874"/>
            <a:ext cx="4420217" cy="2867425"/>
          </a:xfrm>
          <a:prstGeom prst="rect">
            <a:avLst/>
          </a:prstGeom>
        </p:spPr>
      </p:pic>
      <p:sp>
        <p:nvSpPr>
          <p:cNvPr id="6" name="TextBox 5">
            <a:extLst>
              <a:ext uri="{FF2B5EF4-FFF2-40B4-BE49-F238E27FC236}">
                <a16:creationId xmlns:a16="http://schemas.microsoft.com/office/drawing/2014/main" id="{6B512495-CAE5-E0B6-6BAA-2BDB1FB55AC5}"/>
              </a:ext>
            </a:extLst>
          </p:cNvPr>
          <p:cNvSpPr txBox="1"/>
          <p:nvPr/>
        </p:nvSpPr>
        <p:spPr>
          <a:xfrm>
            <a:off x="7450523" y="3822113"/>
            <a:ext cx="4518032" cy="338554"/>
          </a:xfrm>
          <a:prstGeom prst="rect">
            <a:avLst/>
          </a:prstGeom>
          <a:noFill/>
        </p:spPr>
        <p:txBody>
          <a:bodyPr wrap="none" rtlCol="0">
            <a:spAutoFit/>
          </a:bodyPr>
          <a:lstStyle/>
          <a:p>
            <a:r>
              <a:rPr lang="en-US" sz="1600" dirty="0"/>
              <a:t>What you’ll see if you run straight from the P drive</a:t>
            </a:r>
          </a:p>
        </p:txBody>
      </p:sp>
      <p:sp>
        <p:nvSpPr>
          <p:cNvPr id="7" name="TextBox 6">
            <a:extLst>
              <a:ext uri="{FF2B5EF4-FFF2-40B4-BE49-F238E27FC236}">
                <a16:creationId xmlns:a16="http://schemas.microsoft.com/office/drawing/2014/main" id="{4C47D0C0-C544-5D9B-756C-AAE53A2F64DE}"/>
              </a:ext>
            </a:extLst>
          </p:cNvPr>
          <p:cNvSpPr txBox="1"/>
          <p:nvPr/>
        </p:nvSpPr>
        <p:spPr>
          <a:xfrm>
            <a:off x="0" y="3331491"/>
            <a:ext cx="6589699" cy="3185937"/>
          </a:xfrm>
          <a:prstGeom prst="rect">
            <a:avLst/>
          </a:prstGeom>
          <a:noFill/>
        </p:spPr>
        <p:txBody>
          <a:bodyPr wrap="square" rtlCol="0">
            <a:spAutoFit/>
          </a:bodyPr>
          <a:lstStyle/>
          <a:p>
            <a:pPr>
              <a:lnSpc>
                <a:spcPct val="125000"/>
              </a:lnSpc>
            </a:pPr>
            <a:r>
              <a:rPr lang="en-US" dirty="0"/>
              <a:t>The .bat file loads a few environment variables to offload database credentials from the app. Because it automatically executes commands and doesn’t live on your computer’s hard drive, it’s flagged as malicious even if you’ve run it before. By default, double clicking this will execute its contents straight from the terminal. If you want to see what it’s doing, you’re welcome to open it in a text editor by right-clicking, then selecting edit (although you will still need to confirm the security dialog). Doing so will not execute the commands.</a:t>
            </a:r>
          </a:p>
        </p:txBody>
      </p:sp>
      <p:sp>
        <p:nvSpPr>
          <p:cNvPr id="8" name="TextBox 7">
            <a:extLst>
              <a:ext uri="{FF2B5EF4-FFF2-40B4-BE49-F238E27FC236}">
                <a16:creationId xmlns:a16="http://schemas.microsoft.com/office/drawing/2014/main" id="{C1FE9DDF-8C98-B755-3D3B-7F09D75EF00F}"/>
              </a:ext>
            </a:extLst>
          </p:cNvPr>
          <p:cNvSpPr txBox="1"/>
          <p:nvPr/>
        </p:nvSpPr>
        <p:spPr>
          <a:xfrm flipH="1">
            <a:off x="6732574" y="5147539"/>
            <a:ext cx="5535625" cy="923330"/>
          </a:xfrm>
          <a:prstGeom prst="rect">
            <a:avLst/>
          </a:prstGeom>
          <a:noFill/>
        </p:spPr>
        <p:txBody>
          <a:bodyPr wrap="square" rtlCol="0">
            <a:spAutoFit/>
          </a:bodyPr>
          <a:lstStyle/>
          <a:p>
            <a:r>
              <a:rPr lang="en-US" dirty="0"/>
              <a:t>When you run the .bat file, you’ll see a terminal window pop up briefly, then disappear. That means the file has run and you’re ready to run the actual program.</a:t>
            </a:r>
          </a:p>
        </p:txBody>
      </p:sp>
      <p:pic>
        <p:nvPicPr>
          <p:cNvPr id="4" name="Picture 3">
            <a:extLst>
              <a:ext uri="{FF2B5EF4-FFF2-40B4-BE49-F238E27FC236}">
                <a16:creationId xmlns:a16="http://schemas.microsoft.com/office/drawing/2014/main" id="{92B95D9D-B4CE-1487-CADE-529E45580F08}"/>
              </a:ext>
            </a:extLst>
          </p:cNvPr>
          <p:cNvPicPr>
            <a:picLocks noChangeAspect="1"/>
          </p:cNvPicPr>
          <p:nvPr/>
        </p:nvPicPr>
        <p:blipFill>
          <a:blip r:embed="rId3"/>
          <a:stretch>
            <a:fillRect/>
          </a:stretch>
        </p:blipFill>
        <p:spPr>
          <a:xfrm>
            <a:off x="1" y="905060"/>
            <a:ext cx="4420218" cy="2453257"/>
          </a:xfrm>
          <a:prstGeom prst="rect">
            <a:avLst/>
          </a:prstGeom>
        </p:spPr>
      </p:pic>
    </p:spTree>
    <p:extLst>
      <p:ext uri="{BB962C8B-B14F-4D97-AF65-F5344CB8AC3E}">
        <p14:creationId xmlns:p14="http://schemas.microsoft.com/office/powerpoint/2010/main" val="1393151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4811-67A3-ACA0-CEE1-A9EA167456BB}"/>
              </a:ext>
            </a:extLst>
          </p:cNvPr>
          <p:cNvSpPr>
            <a:spLocks noGrp="1"/>
          </p:cNvSpPr>
          <p:nvPr>
            <p:ph type="title"/>
          </p:nvPr>
        </p:nvSpPr>
        <p:spPr/>
        <p:txBody>
          <a:bodyPr>
            <a:normAutofit fontScale="90000"/>
          </a:bodyPr>
          <a:lstStyle/>
          <a:p>
            <a:r>
              <a:rPr lang="en-US" dirty="0"/>
              <a:t>The .exe file</a:t>
            </a:r>
          </a:p>
        </p:txBody>
      </p:sp>
      <p:sp>
        <p:nvSpPr>
          <p:cNvPr id="5" name="TextBox 4">
            <a:extLst>
              <a:ext uri="{FF2B5EF4-FFF2-40B4-BE49-F238E27FC236}">
                <a16:creationId xmlns:a16="http://schemas.microsoft.com/office/drawing/2014/main" id="{D84C3A8A-7E55-2610-6A46-C98FD66F9CBA}"/>
              </a:ext>
            </a:extLst>
          </p:cNvPr>
          <p:cNvSpPr txBox="1"/>
          <p:nvPr/>
        </p:nvSpPr>
        <p:spPr>
          <a:xfrm>
            <a:off x="137706" y="3329710"/>
            <a:ext cx="5295900" cy="1200329"/>
          </a:xfrm>
          <a:prstGeom prst="rect">
            <a:avLst/>
          </a:prstGeom>
          <a:noFill/>
        </p:spPr>
        <p:txBody>
          <a:bodyPr wrap="square" rtlCol="0">
            <a:spAutoFit/>
          </a:bodyPr>
          <a:lstStyle/>
          <a:p>
            <a:r>
              <a:rPr lang="en-US" dirty="0"/>
              <a:t>Once you’ve run the .bat file, you’re ready to go. Double clicking the .exe file will show the security dialog (because it’s an executable), but after you confirm, it should show something like this:</a:t>
            </a:r>
          </a:p>
        </p:txBody>
      </p:sp>
      <p:pic>
        <p:nvPicPr>
          <p:cNvPr id="9" name="Picture 8">
            <a:extLst>
              <a:ext uri="{FF2B5EF4-FFF2-40B4-BE49-F238E27FC236}">
                <a16:creationId xmlns:a16="http://schemas.microsoft.com/office/drawing/2014/main" id="{F8C353EC-B728-CE2C-49EF-62209F29E271}"/>
              </a:ext>
            </a:extLst>
          </p:cNvPr>
          <p:cNvPicPr>
            <a:picLocks noChangeAspect="1"/>
          </p:cNvPicPr>
          <p:nvPr/>
        </p:nvPicPr>
        <p:blipFill>
          <a:blip r:embed="rId2"/>
          <a:stretch>
            <a:fillRect/>
          </a:stretch>
        </p:blipFill>
        <p:spPr>
          <a:xfrm>
            <a:off x="1" y="4530039"/>
            <a:ext cx="5571156" cy="2327961"/>
          </a:xfrm>
          <a:prstGeom prst="rect">
            <a:avLst/>
          </a:prstGeom>
        </p:spPr>
      </p:pic>
      <p:pic>
        <p:nvPicPr>
          <p:cNvPr id="11" name="Picture 10">
            <a:extLst>
              <a:ext uri="{FF2B5EF4-FFF2-40B4-BE49-F238E27FC236}">
                <a16:creationId xmlns:a16="http://schemas.microsoft.com/office/drawing/2014/main" id="{CF2B1EEF-6F6B-E339-5B91-7CC35A310B4B}"/>
              </a:ext>
            </a:extLst>
          </p:cNvPr>
          <p:cNvPicPr>
            <a:picLocks noChangeAspect="1"/>
          </p:cNvPicPr>
          <p:nvPr/>
        </p:nvPicPr>
        <p:blipFill>
          <a:blip r:embed="rId3"/>
          <a:srcRect r="70914"/>
          <a:stretch>
            <a:fillRect/>
          </a:stretch>
        </p:blipFill>
        <p:spPr>
          <a:xfrm>
            <a:off x="6896102" y="1028886"/>
            <a:ext cx="3974345" cy="984067"/>
          </a:xfrm>
          <a:prstGeom prst="rect">
            <a:avLst/>
          </a:prstGeom>
        </p:spPr>
      </p:pic>
      <p:sp>
        <p:nvSpPr>
          <p:cNvPr id="12" name="TextBox 11">
            <a:extLst>
              <a:ext uri="{FF2B5EF4-FFF2-40B4-BE49-F238E27FC236}">
                <a16:creationId xmlns:a16="http://schemas.microsoft.com/office/drawing/2014/main" id="{C73AB218-A196-D44E-C072-E4881A9B0545}"/>
              </a:ext>
            </a:extLst>
          </p:cNvPr>
          <p:cNvSpPr txBox="1"/>
          <p:nvPr/>
        </p:nvSpPr>
        <p:spPr>
          <a:xfrm>
            <a:off x="5750351" y="2117385"/>
            <a:ext cx="6441649" cy="1477328"/>
          </a:xfrm>
          <a:prstGeom prst="rect">
            <a:avLst/>
          </a:prstGeom>
          <a:noFill/>
        </p:spPr>
        <p:txBody>
          <a:bodyPr wrap="square" rtlCol="0">
            <a:spAutoFit/>
          </a:bodyPr>
          <a:lstStyle/>
          <a:p>
            <a:r>
              <a:rPr lang="en-US" dirty="0"/>
              <a:t>This app is hosted locally, so there’s not a website to go to (in the traditional sense). Open any browser and type in the address from the second line of the terminal output. I’m 99% sure it’s stable at localhost:5000, but it will always match whatever you see in the terminal created by the .exe.</a:t>
            </a:r>
          </a:p>
        </p:txBody>
      </p:sp>
      <p:sp>
        <p:nvSpPr>
          <p:cNvPr id="13" name="TextBox 12">
            <a:extLst>
              <a:ext uri="{FF2B5EF4-FFF2-40B4-BE49-F238E27FC236}">
                <a16:creationId xmlns:a16="http://schemas.microsoft.com/office/drawing/2014/main" id="{E684CA83-4723-2D99-5B80-6CBDAC320240}"/>
              </a:ext>
            </a:extLst>
          </p:cNvPr>
          <p:cNvSpPr txBox="1"/>
          <p:nvPr/>
        </p:nvSpPr>
        <p:spPr>
          <a:xfrm>
            <a:off x="5571157" y="5103674"/>
            <a:ext cx="6620842" cy="1754326"/>
          </a:xfrm>
          <a:prstGeom prst="rect">
            <a:avLst/>
          </a:prstGeom>
          <a:noFill/>
        </p:spPr>
        <p:txBody>
          <a:bodyPr wrap="square" rtlCol="0">
            <a:spAutoFit/>
          </a:bodyPr>
          <a:lstStyle/>
          <a:p>
            <a:r>
              <a:rPr lang="en-US" dirty="0"/>
              <a:t>Side note: the app’s lifespan is tied to the terminal, not the browser. Thus, it doesn’t care when you close the tab, go to a different site, or even close the browser entirely.  The only way to end it is to go back to the terminal and either close it or press </a:t>
            </a:r>
            <a:r>
              <a:rPr lang="en-US" dirty="0" err="1"/>
              <a:t>Ctrl+C</a:t>
            </a:r>
            <a:r>
              <a:rPr lang="en-US" dirty="0"/>
              <a:t> as it indicates. Once the app closes, all tabs currently viewing it will try to reconnect a couple times before giving up.</a:t>
            </a:r>
          </a:p>
        </p:txBody>
      </p:sp>
      <p:pic>
        <p:nvPicPr>
          <p:cNvPr id="15" name="Picture 14">
            <a:extLst>
              <a:ext uri="{FF2B5EF4-FFF2-40B4-BE49-F238E27FC236}">
                <a16:creationId xmlns:a16="http://schemas.microsoft.com/office/drawing/2014/main" id="{874A52D9-9D19-B952-8A57-2050524F76E0}"/>
              </a:ext>
            </a:extLst>
          </p:cNvPr>
          <p:cNvPicPr>
            <a:picLocks noChangeAspect="1"/>
          </p:cNvPicPr>
          <p:nvPr/>
        </p:nvPicPr>
        <p:blipFill>
          <a:blip r:embed="rId4"/>
          <a:stretch>
            <a:fillRect/>
          </a:stretch>
        </p:blipFill>
        <p:spPr>
          <a:xfrm>
            <a:off x="6000939" y="3549146"/>
            <a:ext cx="5458119" cy="1554528"/>
          </a:xfrm>
          <a:prstGeom prst="rect">
            <a:avLst/>
          </a:prstGeom>
        </p:spPr>
      </p:pic>
      <p:pic>
        <p:nvPicPr>
          <p:cNvPr id="6" name="Picture 5">
            <a:extLst>
              <a:ext uri="{FF2B5EF4-FFF2-40B4-BE49-F238E27FC236}">
                <a16:creationId xmlns:a16="http://schemas.microsoft.com/office/drawing/2014/main" id="{AB6F96B0-1893-37B7-7ED0-8D324D8C0E49}"/>
              </a:ext>
            </a:extLst>
          </p:cNvPr>
          <p:cNvPicPr>
            <a:picLocks noChangeAspect="1"/>
          </p:cNvPicPr>
          <p:nvPr/>
        </p:nvPicPr>
        <p:blipFill>
          <a:blip r:embed="rId5"/>
          <a:stretch>
            <a:fillRect/>
          </a:stretch>
        </p:blipFill>
        <p:spPr>
          <a:xfrm>
            <a:off x="317433" y="893064"/>
            <a:ext cx="4534293" cy="2424650"/>
          </a:xfrm>
          <a:prstGeom prst="rect">
            <a:avLst/>
          </a:prstGeom>
        </p:spPr>
      </p:pic>
    </p:spTree>
    <p:extLst>
      <p:ext uri="{BB962C8B-B14F-4D97-AF65-F5344CB8AC3E}">
        <p14:creationId xmlns:p14="http://schemas.microsoft.com/office/powerpoint/2010/main" val="1392230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3" name="Picture 3">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4" name="Picture 4">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6" name="Picture 6">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7" name="Picture 7">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Tree>
    <p:extLst>
      <p:ext uri="{BB962C8B-B14F-4D97-AF65-F5344CB8AC3E}">
        <p14:creationId xmlns:p14="http://schemas.microsoft.com/office/powerpoint/2010/main" val="2197003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1213584-1F50-FCD4-1435-30D4AEFE196E}"/>
              </a:ext>
            </a:extLst>
          </p:cNvPr>
          <p:cNvPicPr>
            <a:picLocks noChangeAspect="1"/>
          </p:cNvPicPr>
          <p:nvPr/>
        </p:nvPicPr>
        <p:blipFill>
          <a:blip r:embed="rId2"/>
          <a:srcRect l="-1" r="309"/>
          <a:stretch>
            <a:fillRect/>
          </a:stretch>
        </p:blipFill>
        <p:spPr>
          <a:xfrm>
            <a:off x="222885" y="905060"/>
            <a:ext cx="11710035" cy="5759757"/>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603242" y="225156"/>
            <a:ext cx="7007289" cy="679904"/>
          </a:xfrm>
        </p:spPr>
        <p:txBody>
          <a:bodyPr anchor="t">
            <a:normAutofit fontScale="90000"/>
          </a:bodyPr>
          <a:lstStyle/>
          <a:p>
            <a:r>
              <a:rPr lang="en-US" sz="4100" dirty="0"/>
              <a:t>Splash screen/power search page</a:t>
            </a:r>
          </a:p>
        </p:txBody>
      </p:sp>
      <p:sp>
        <p:nvSpPr>
          <p:cNvPr id="19" name="TextBox 18">
            <a:extLst>
              <a:ext uri="{FF2B5EF4-FFF2-40B4-BE49-F238E27FC236}">
                <a16:creationId xmlns:a16="http://schemas.microsoft.com/office/drawing/2014/main" id="{6A63BECF-C7C5-83D1-B0FC-B1F864230466}"/>
              </a:ext>
            </a:extLst>
          </p:cNvPr>
          <p:cNvSpPr txBox="1"/>
          <p:nvPr/>
        </p:nvSpPr>
        <p:spPr>
          <a:xfrm>
            <a:off x="2266950" y="2656662"/>
            <a:ext cx="4171950" cy="246221"/>
          </a:xfrm>
          <a:prstGeom prst="rect">
            <a:avLst/>
          </a:prstGeom>
          <a:noFill/>
        </p:spPr>
        <p:txBody>
          <a:bodyPr wrap="square" rtlCol="0">
            <a:spAutoFit/>
          </a:bodyPr>
          <a:lstStyle/>
          <a:p>
            <a:pPr algn="ctr"/>
            <a:r>
              <a:rPr lang="en-US" sz="1000" dirty="0">
                <a:solidFill>
                  <a:schemeClr val="accent5">
                    <a:lumMod val="60000"/>
                    <a:lumOff val="40000"/>
                  </a:schemeClr>
                </a:solidFill>
              </a:rPr>
              <a:t>Hover to see which tables they work in</a:t>
            </a:r>
          </a:p>
        </p:txBody>
      </p:sp>
      <p:sp>
        <p:nvSpPr>
          <p:cNvPr id="21" name="TextBox 20">
            <a:extLst>
              <a:ext uri="{FF2B5EF4-FFF2-40B4-BE49-F238E27FC236}">
                <a16:creationId xmlns:a16="http://schemas.microsoft.com/office/drawing/2014/main" id="{7F543D99-54F6-0913-40C2-034E0784A6B8}"/>
              </a:ext>
            </a:extLst>
          </p:cNvPr>
          <p:cNvSpPr txBox="1"/>
          <p:nvPr/>
        </p:nvSpPr>
        <p:spPr>
          <a:xfrm>
            <a:off x="4659314" y="2074416"/>
            <a:ext cx="1649412" cy="400110"/>
          </a:xfrm>
          <a:prstGeom prst="rect">
            <a:avLst/>
          </a:prstGeom>
          <a:noFill/>
        </p:spPr>
        <p:txBody>
          <a:bodyPr wrap="square" rtlCol="0">
            <a:spAutoFit/>
          </a:bodyPr>
          <a:lstStyle/>
          <a:p>
            <a:r>
              <a:rPr lang="en-US" sz="1000" dirty="0">
                <a:solidFill>
                  <a:schemeClr val="accent5">
                    <a:lumMod val="60000"/>
                    <a:lumOff val="40000"/>
                  </a:schemeClr>
                </a:solidFill>
              </a:rPr>
              <a:t>Hover to see what they do, click to add to your search</a:t>
            </a:r>
          </a:p>
        </p:txBody>
      </p:sp>
      <p:cxnSp>
        <p:nvCxnSpPr>
          <p:cNvPr id="23" name="Straight Arrow Connector 22">
            <a:extLst>
              <a:ext uri="{FF2B5EF4-FFF2-40B4-BE49-F238E27FC236}">
                <a16:creationId xmlns:a16="http://schemas.microsoft.com/office/drawing/2014/main" id="{A522163E-F8BE-62B1-8092-5F833E15F90A}"/>
              </a:ext>
            </a:extLst>
          </p:cNvPr>
          <p:cNvCxnSpPr/>
          <p:nvPr/>
        </p:nvCxnSpPr>
        <p:spPr>
          <a:xfrm flipH="1">
            <a:off x="4400550" y="2181612"/>
            <a:ext cx="31432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D2E5DD0-D410-4705-ECEC-2855E25949F9}"/>
              </a:ext>
            </a:extLst>
          </p:cNvPr>
          <p:cNvCxnSpPr>
            <a:cxnSpLocks/>
          </p:cNvCxnSpPr>
          <p:nvPr/>
        </p:nvCxnSpPr>
        <p:spPr>
          <a:xfrm flipH="1">
            <a:off x="3929063" y="2379663"/>
            <a:ext cx="7858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787AE05E-FE75-8DF2-A2F8-A891F7814B3E}"/>
              </a:ext>
            </a:extLst>
          </p:cNvPr>
          <p:cNvSpPr txBox="1"/>
          <p:nvPr/>
        </p:nvSpPr>
        <p:spPr>
          <a:xfrm>
            <a:off x="3157537" y="1646059"/>
            <a:ext cx="3509963" cy="246221"/>
          </a:xfrm>
          <a:prstGeom prst="rect">
            <a:avLst/>
          </a:prstGeom>
          <a:noFill/>
        </p:spPr>
        <p:txBody>
          <a:bodyPr wrap="square" rtlCol="0">
            <a:spAutoFit/>
          </a:bodyPr>
          <a:lstStyle/>
          <a:p>
            <a:r>
              <a:rPr lang="en-US" sz="1000" dirty="0">
                <a:solidFill>
                  <a:schemeClr val="accent5">
                    <a:lumMod val="60000"/>
                    <a:lumOff val="40000"/>
                  </a:schemeClr>
                </a:solidFill>
              </a:rPr>
              <a:t>Click to quickly switch tables (for supported searches)</a:t>
            </a:r>
          </a:p>
        </p:txBody>
      </p:sp>
      <p:cxnSp>
        <p:nvCxnSpPr>
          <p:cNvPr id="30" name="Straight Arrow Connector 29">
            <a:extLst>
              <a:ext uri="{FF2B5EF4-FFF2-40B4-BE49-F238E27FC236}">
                <a16:creationId xmlns:a16="http://schemas.microsoft.com/office/drawing/2014/main" id="{8ABF5B82-FD5B-36EE-196C-636A6344321A}"/>
              </a:ext>
            </a:extLst>
          </p:cNvPr>
          <p:cNvCxnSpPr>
            <a:stCxn id="28" idx="1"/>
          </p:cNvCxnSpPr>
          <p:nvPr/>
        </p:nvCxnSpPr>
        <p:spPr>
          <a:xfrm flipH="1">
            <a:off x="3009900" y="1769170"/>
            <a:ext cx="147637" cy="38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Rectangle 30">
            <a:extLst>
              <a:ext uri="{FF2B5EF4-FFF2-40B4-BE49-F238E27FC236}">
                <a16:creationId xmlns:a16="http://schemas.microsoft.com/office/drawing/2014/main" id="{99BA3C0F-6709-F8EE-5313-3A36EBA822C1}"/>
              </a:ext>
            </a:extLst>
          </p:cNvPr>
          <p:cNvSpPr/>
          <p:nvPr/>
        </p:nvSpPr>
        <p:spPr>
          <a:xfrm>
            <a:off x="300038" y="1343025"/>
            <a:ext cx="1002506" cy="133055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1382713" y="2860790"/>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1"/>
            <a:endCxn id="31" idx="2"/>
          </p:cNvCxnSpPr>
          <p:nvPr/>
        </p:nvCxnSpPr>
        <p:spPr>
          <a:xfrm rot="10800000">
            <a:off x="801291" y="2673581"/>
            <a:ext cx="581422" cy="387265"/>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10" name="TextBox 9">
            <a:extLst>
              <a:ext uri="{FF2B5EF4-FFF2-40B4-BE49-F238E27FC236}">
                <a16:creationId xmlns:a16="http://schemas.microsoft.com/office/drawing/2014/main" id="{5DC1475E-425B-D69B-7286-A663153D37EA}"/>
              </a:ext>
            </a:extLst>
          </p:cNvPr>
          <p:cNvSpPr txBox="1"/>
          <p:nvPr/>
        </p:nvSpPr>
        <p:spPr>
          <a:xfrm>
            <a:off x="3940695" y="4285153"/>
            <a:ext cx="5453609" cy="369332"/>
          </a:xfrm>
          <a:prstGeom prst="rect">
            <a:avLst/>
          </a:prstGeom>
          <a:noFill/>
        </p:spPr>
        <p:txBody>
          <a:bodyPr wrap="none" rtlCol="0">
            <a:spAutoFit/>
          </a:bodyPr>
          <a:lstStyle/>
          <a:p>
            <a:r>
              <a:rPr lang="en-US" dirty="0">
                <a:solidFill>
                  <a:schemeClr val="accent5">
                    <a:lumMod val="60000"/>
                    <a:lumOff val="40000"/>
                  </a:schemeClr>
                </a:solidFill>
              </a:rPr>
              <a:t>Result table appears here after you’ve searched once</a:t>
            </a:r>
          </a:p>
        </p:txBody>
      </p:sp>
      <p:sp>
        <p:nvSpPr>
          <p:cNvPr id="11" name="TextBox 10">
            <a:extLst>
              <a:ext uri="{FF2B5EF4-FFF2-40B4-BE49-F238E27FC236}">
                <a16:creationId xmlns:a16="http://schemas.microsoft.com/office/drawing/2014/main" id="{32854280-A57A-75F6-51CA-CE9CBA16EB86}"/>
              </a:ext>
            </a:extLst>
          </p:cNvPr>
          <p:cNvSpPr txBox="1"/>
          <p:nvPr/>
        </p:nvSpPr>
        <p:spPr>
          <a:xfrm>
            <a:off x="11399530" y="2439799"/>
            <a:ext cx="492443" cy="3469861"/>
          </a:xfrm>
          <a:prstGeom prst="rect">
            <a:avLst/>
          </a:prstGeom>
          <a:noFill/>
        </p:spPr>
        <p:txBody>
          <a:bodyPr vert="eaVert" wrap="none" rtlCol="0">
            <a:spAutoFit/>
          </a:bodyPr>
          <a:lstStyle/>
          <a:p>
            <a:r>
              <a:rPr lang="en-US" sz="1000" dirty="0">
                <a:solidFill>
                  <a:schemeClr val="accent5">
                    <a:lumMod val="60000"/>
                    <a:lumOff val="40000"/>
                  </a:schemeClr>
                </a:solidFill>
              </a:rPr>
              <a:t>When searching all, two scroll bars appear.</a:t>
            </a:r>
          </a:p>
          <a:p>
            <a:r>
              <a:rPr lang="en-US" sz="1000" dirty="0">
                <a:solidFill>
                  <a:schemeClr val="accent5">
                    <a:lumMod val="60000"/>
                    <a:lumOff val="40000"/>
                  </a:schemeClr>
                </a:solidFill>
              </a:rPr>
              <a:t>The left one controls the table, the right one controls the page</a:t>
            </a:r>
          </a:p>
        </p:txBody>
      </p:sp>
      <p:sp>
        <p:nvSpPr>
          <p:cNvPr id="12" name="TextBox 11">
            <a:extLst>
              <a:ext uri="{FF2B5EF4-FFF2-40B4-BE49-F238E27FC236}">
                <a16:creationId xmlns:a16="http://schemas.microsoft.com/office/drawing/2014/main" id="{0F902429-7619-882E-5D35-CE1ADB6B2957}"/>
              </a:ext>
            </a:extLst>
          </p:cNvPr>
          <p:cNvSpPr txBox="1"/>
          <p:nvPr/>
        </p:nvSpPr>
        <p:spPr>
          <a:xfrm>
            <a:off x="2974159" y="1856444"/>
            <a:ext cx="5939446" cy="246221"/>
          </a:xfrm>
          <a:prstGeom prst="rect">
            <a:avLst/>
          </a:prstGeom>
          <a:noFill/>
        </p:spPr>
        <p:txBody>
          <a:bodyPr wrap="none" rtlCol="0">
            <a:spAutoFit/>
          </a:bodyPr>
          <a:lstStyle/>
          <a:p>
            <a:r>
              <a:rPr lang="en-US" sz="1000" dirty="0">
                <a:solidFill>
                  <a:schemeClr val="accent5">
                    <a:lumMod val="60000"/>
                    <a:lumOff val="40000"/>
                  </a:schemeClr>
                </a:solidFill>
              </a:rPr>
              <a:t>This is a live preview of your search. It’s the most helpful tool for finding out where something went wrong</a:t>
            </a:r>
          </a:p>
        </p:txBody>
      </p:sp>
    </p:spTree>
    <p:extLst>
      <p:ext uri="{BB962C8B-B14F-4D97-AF65-F5344CB8AC3E}">
        <p14:creationId xmlns:p14="http://schemas.microsoft.com/office/powerpoint/2010/main" val="195216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search bar</a:t>
            </a:r>
          </a:p>
        </p:txBody>
      </p:sp>
      <p:pic>
        <p:nvPicPr>
          <p:cNvPr id="37" name="Content Placeholder 7">
            <a:extLst>
              <a:ext uri="{FF2B5EF4-FFF2-40B4-BE49-F238E27FC236}">
                <a16:creationId xmlns:a16="http://schemas.microsoft.com/office/drawing/2014/main" id="{A222A5A0-B696-E2BD-A6DF-9AD688F858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4" y="905060"/>
            <a:ext cx="11525863" cy="5775090"/>
          </a:xfrm>
          <a:prstGeom prst="rect">
            <a:avLst/>
          </a:prstGeom>
        </p:spPr>
      </p:pic>
      <p:sp>
        <p:nvSpPr>
          <p:cNvPr id="12" name="TextBox 11">
            <a:extLst>
              <a:ext uri="{FF2B5EF4-FFF2-40B4-BE49-F238E27FC236}">
                <a16:creationId xmlns:a16="http://schemas.microsoft.com/office/drawing/2014/main" id="{AD879685-DF77-5C41-3629-A1F65747A232}"/>
              </a:ext>
            </a:extLst>
          </p:cNvPr>
          <p:cNvSpPr txBox="1"/>
          <p:nvPr/>
        </p:nvSpPr>
        <p:spPr>
          <a:xfrm>
            <a:off x="5276851" y="2047875"/>
            <a:ext cx="3244980" cy="400110"/>
          </a:xfrm>
          <a:prstGeom prst="rect">
            <a:avLst/>
          </a:prstGeom>
          <a:noFill/>
        </p:spPr>
        <p:txBody>
          <a:bodyPr wrap="square" rtlCol="0">
            <a:spAutoFit/>
          </a:bodyPr>
          <a:lstStyle/>
          <a:p>
            <a:r>
              <a:rPr lang="en-US" sz="1000" dirty="0">
                <a:solidFill>
                  <a:schemeClr val="accent5">
                    <a:lumMod val="60000"/>
                    <a:lumOff val="40000"/>
                  </a:schemeClr>
                </a:solidFill>
              </a:rPr>
              <a:t>As you type,  filters will populate based on your ‘in’ tag, and change color based on presence</a:t>
            </a:r>
          </a:p>
        </p:txBody>
      </p:sp>
      <p:sp>
        <p:nvSpPr>
          <p:cNvPr id="13" name="TextBox 12">
            <a:extLst>
              <a:ext uri="{FF2B5EF4-FFF2-40B4-BE49-F238E27FC236}">
                <a16:creationId xmlns:a16="http://schemas.microsoft.com/office/drawing/2014/main" id="{0D102868-4770-9A76-6440-5B8A06B7BA90}"/>
              </a:ext>
            </a:extLst>
          </p:cNvPr>
          <p:cNvSpPr txBox="1"/>
          <p:nvPr/>
        </p:nvSpPr>
        <p:spPr>
          <a:xfrm>
            <a:off x="5972175" y="1714500"/>
            <a:ext cx="3102131" cy="246221"/>
          </a:xfrm>
          <a:prstGeom prst="rect">
            <a:avLst/>
          </a:prstGeom>
          <a:noFill/>
        </p:spPr>
        <p:txBody>
          <a:bodyPr wrap="none" rtlCol="0">
            <a:spAutoFit/>
          </a:bodyPr>
          <a:lstStyle/>
          <a:p>
            <a:r>
              <a:rPr lang="en-US" sz="1000" dirty="0">
                <a:solidFill>
                  <a:schemeClr val="accent5">
                    <a:lumMod val="60000"/>
                    <a:lumOff val="40000"/>
                  </a:schemeClr>
                </a:solidFill>
              </a:rPr>
              <a:t>This is what the tool thinks you said. It is always right.</a:t>
            </a:r>
          </a:p>
        </p:txBody>
      </p:sp>
      <p:sp>
        <p:nvSpPr>
          <p:cNvPr id="14" name="TextBox 13">
            <a:extLst>
              <a:ext uri="{FF2B5EF4-FFF2-40B4-BE49-F238E27FC236}">
                <a16:creationId xmlns:a16="http://schemas.microsoft.com/office/drawing/2014/main" id="{9537885A-1A10-5FD0-3C18-770BE41549B8}"/>
              </a:ext>
            </a:extLst>
          </p:cNvPr>
          <p:cNvSpPr txBox="1"/>
          <p:nvPr/>
        </p:nvSpPr>
        <p:spPr>
          <a:xfrm>
            <a:off x="4790177" y="943038"/>
            <a:ext cx="5450531" cy="400110"/>
          </a:xfrm>
          <a:prstGeom prst="rect">
            <a:avLst/>
          </a:prstGeom>
          <a:noFill/>
        </p:spPr>
        <p:txBody>
          <a:bodyPr wrap="none" rtlCol="0">
            <a:spAutoFit/>
          </a:bodyPr>
          <a:lstStyle/>
          <a:p>
            <a:r>
              <a:rPr lang="en-US" sz="1000" dirty="0">
                <a:solidFill>
                  <a:schemeClr val="accent5">
                    <a:lumMod val="60000"/>
                    <a:lumOff val="40000"/>
                  </a:schemeClr>
                </a:solidFill>
              </a:rPr>
              <a:t>Use space-separated </a:t>
            </a:r>
            <a:r>
              <a:rPr lang="en-US" sz="1000" dirty="0" err="1">
                <a:solidFill>
                  <a:schemeClr val="accent5">
                    <a:lumMod val="60000"/>
                    <a:lumOff val="40000"/>
                  </a:schemeClr>
                </a:solidFill>
              </a:rPr>
              <a:t>key:value</a:t>
            </a:r>
            <a:r>
              <a:rPr lang="en-US" sz="1000" dirty="0">
                <a:solidFill>
                  <a:schemeClr val="accent5">
                    <a:lumMod val="60000"/>
                    <a:lumOff val="40000"/>
                  </a:schemeClr>
                </a:solidFill>
              </a:rPr>
              <a:t> syntax. Put a hyphen at the start of any key to filter out the value.</a:t>
            </a:r>
          </a:p>
          <a:p>
            <a:r>
              <a:rPr lang="en-US" sz="1000" dirty="0">
                <a:solidFill>
                  <a:schemeClr val="accent5">
                    <a:lumMod val="60000"/>
                    <a:lumOff val="40000"/>
                  </a:schemeClr>
                </a:solidFill>
              </a:rPr>
              <a:t>Wrap a value in quotes if you wish to include a space or colon (including time) inside the value.</a:t>
            </a:r>
          </a:p>
        </p:txBody>
      </p:sp>
      <p:sp>
        <p:nvSpPr>
          <p:cNvPr id="15" name="TextBox 14">
            <a:extLst>
              <a:ext uri="{FF2B5EF4-FFF2-40B4-BE49-F238E27FC236}">
                <a16:creationId xmlns:a16="http://schemas.microsoft.com/office/drawing/2014/main" id="{4EACE5C2-B2C8-DFA2-9B75-2049781F7BDE}"/>
              </a:ext>
            </a:extLst>
          </p:cNvPr>
          <p:cNvSpPr txBox="1"/>
          <p:nvPr/>
        </p:nvSpPr>
        <p:spPr>
          <a:xfrm>
            <a:off x="6349682" y="2406008"/>
            <a:ext cx="1742785" cy="553998"/>
          </a:xfrm>
          <a:prstGeom prst="rect">
            <a:avLst/>
          </a:prstGeom>
          <a:noFill/>
        </p:spPr>
        <p:txBody>
          <a:bodyPr wrap="none" rtlCol="0">
            <a:spAutoFit/>
          </a:bodyPr>
          <a:lstStyle/>
          <a:p>
            <a:r>
              <a:rPr lang="en-US" sz="1000" dirty="0">
                <a:solidFill>
                  <a:schemeClr val="bg2">
                    <a:lumMod val="50000"/>
                  </a:schemeClr>
                </a:solidFill>
              </a:rPr>
              <a:t>Gray</a:t>
            </a:r>
            <a:r>
              <a:rPr lang="en-US" sz="1000" dirty="0"/>
              <a:t>: filter is not in search</a:t>
            </a:r>
          </a:p>
          <a:p>
            <a:r>
              <a:rPr lang="en-US" sz="1000" dirty="0">
                <a:solidFill>
                  <a:srgbClr val="0070C0"/>
                </a:solidFill>
              </a:rPr>
              <a:t>Blue</a:t>
            </a:r>
            <a:r>
              <a:rPr lang="en-US" sz="1000" dirty="0"/>
              <a:t>: filter is in search</a:t>
            </a:r>
          </a:p>
          <a:p>
            <a:r>
              <a:rPr lang="en-US" sz="1000" dirty="0">
                <a:solidFill>
                  <a:srgbClr val="FF0000"/>
                </a:solidFill>
              </a:rPr>
              <a:t>Red</a:t>
            </a:r>
            <a:r>
              <a:rPr lang="en-US" sz="1000" dirty="0"/>
              <a:t>: negative filter in search</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2905232"/>
            <a:ext cx="4559341" cy="553998"/>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 but you can refresh if you want to go back to the search that generated this table</a:t>
            </a:r>
          </a:p>
        </p:txBody>
      </p:sp>
      <p:sp>
        <p:nvSpPr>
          <p:cNvPr id="3" name="TextBox 2">
            <a:extLst>
              <a:ext uri="{FF2B5EF4-FFF2-40B4-BE49-F238E27FC236}">
                <a16:creationId xmlns:a16="http://schemas.microsoft.com/office/drawing/2014/main" id="{A47A60E4-CE8E-B5FB-831C-7939396BB75E}"/>
              </a:ext>
            </a:extLst>
          </p:cNvPr>
          <p:cNvSpPr txBox="1"/>
          <p:nvPr/>
        </p:nvSpPr>
        <p:spPr>
          <a:xfrm>
            <a:off x="9736671" y="1793875"/>
            <a:ext cx="2111375" cy="553998"/>
          </a:xfrm>
          <a:prstGeom prst="rect">
            <a:avLst/>
          </a:prstGeom>
          <a:noFill/>
        </p:spPr>
        <p:txBody>
          <a:bodyPr wrap="square" rtlCol="0">
            <a:spAutoFit/>
          </a:bodyPr>
          <a:lstStyle/>
          <a:p>
            <a:r>
              <a:rPr lang="en-US" sz="1000" dirty="0">
                <a:solidFill>
                  <a:schemeClr val="accent5">
                    <a:lumMod val="60000"/>
                    <a:lumOff val="40000"/>
                  </a:schemeClr>
                </a:solidFill>
              </a:rPr>
              <a:t>With these settings, the date range is from the start of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on 2/19 to 11:23 on 2/26 (see preview)</a:t>
            </a:r>
          </a:p>
        </p:txBody>
      </p:sp>
      <p:sp>
        <p:nvSpPr>
          <p:cNvPr id="4" name="TextBox 3">
            <a:extLst>
              <a:ext uri="{FF2B5EF4-FFF2-40B4-BE49-F238E27FC236}">
                <a16:creationId xmlns:a16="http://schemas.microsoft.com/office/drawing/2014/main" id="{A759BA4B-BC38-CBF2-CD5B-0ABFDEC58423}"/>
              </a:ext>
            </a:extLst>
          </p:cNvPr>
          <p:cNvSpPr txBox="1"/>
          <p:nvPr/>
        </p:nvSpPr>
        <p:spPr>
          <a:xfrm>
            <a:off x="7882767" y="2435027"/>
            <a:ext cx="1273933" cy="400110"/>
          </a:xfrm>
          <a:prstGeom prst="rect">
            <a:avLst/>
          </a:prstGeom>
          <a:noFill/>
        </p:spPr>
        <p:txBody>
          <a:bodyPr wrap="square" rtlCol="0">
            <a:spAutoFit/>
          </a:bodyPr>
          <a:lstStyle/>
          <a:p>
            <a:r>
              <a:rPr lang="en-US" sz="1000" dirty="0">
                <a:solidFill>
                  <a:schemeClr val="accent5">
                    <a:lumMod val="60000"/>
                    <a:lumOff val="40000"/>
                  </a:schemeClr>
                </a:solidFill>
              </a:rPr>
              <a:t>These do not apply for date aliases</a:t>
            </a:r>
          </a:p>
        </p:txBody>
      </p:sp>
    </p:spTree>
    <p:extLst>
      <p:ext uri="{BB962C8B-B14F-4D97-AF65-F5344CB8AC3E}">
        <p14:creationId xmlns:p14="http://schemas.microsoft.com/office/powerpoint/2010/main" val="1703292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pic>
        <p:nvPicPr>
          <p:cNvPr id="9" name="Content Placeholder 3">
            <a:extLst>
              <a:ext uri="{FF2B5EF4-FFF2-40B4-BE49-F238E27FC236}">
                <a16:creationId xmlns:a16="http://schemas.microsoft.com/office/drawing/2014/main" id="{ED7BFB05-0BFA-AB99-C237-E4423C4F56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3" y="905060"/>
            <a:ext cx="11471565" cy="5775090"/>
          </a:xfrm>
          <a:prstGeom prst="rect">
            <a:avLst/>
          </a:prstGeom>
        </p:spPr>
      </p:pic>
      <p:sp>
        <p:nvSpPr>
          <p:cNvPr id="10" name="TextBox 9">
            <a:extLst>
              <a:ext uri="{FF2B5EF4-FFF2-40B4-BE49-F238E27FC236}">
                <a16:creationId xmlns:a16="http://schemas.microsoft.com/office/drawing/2014/main" id="{A1538370-39D1-6D79-381E-31E581284C33}"/>
              </a:ext>
            </a:extLst>
          </p:cNvPr>
          <p:cNvSpPr txBox="1"/>
          <p:nvPr/>
        </p:nvSpPr>
        <p:spPr>
          <a:xfrm>
            <a:off x="1536700" y="2940050"/>
            <a:ext cx="1327150" cy="400110"/>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670175" y="3041650"/>
            <a:ext cx="1168400" cy="246221"/>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3" name="TextBox 12">
            <a:extLst>
              <a:ext uri="{FF2B5EF4-FFF2-40B4-BE49-F238E27FC236}">
                <a16:creationId xmlns:a16="http://schemas.microsoft.com/office/drawing/2014/main" id="{6D3680A6-B564-4959-F038-95EB095A6C64}"/>
              </a:ext>
            </a:extLst>
          </p:cNvPr>
          <p:cNvSpPr txBox="1"/>
          <p:nvPr/>
        </p:nvSpPr>
        <p:spPr>
          <a:xfrm>
            <a:off x="4337050" y="3093939"/>
            <a:ext cx="2603598" cy="400110"/>
          </a:xfrm>
          <a:prstGeom prst="rect">
            <a:avLst/>
          </a:prstGeom>
          <a:noFill/>
        </p:spPr>
        <p:txBody>
          <a:bodyPr wrap="none" rtlCol="0">
            <a:spAutoFit/>
          </a:bodyPr>
          <a:lstStyle/>
          <a:p>
            <a:r>
              <a:rPr lang="en-US" sz="1000" dirty="0">
                <a:solidFill>
                  <a:schemeClr val="accent5">
                    <a:lumMod val="60000"/>
                    <a:lumOff val="40000"/>
                  </a:schemeClr>
                </a:solidFill>
              </a:rPr>
              <a:t>Save the entire search’s results to a CSV file</a:t>
            </a:r>
          </a:p>
          <a:p>
            <a:r>
              <a:rPr lang="en-US" sz="1000" dirty="0">
                <a:solidFill>
                  <a:schemeClr val="accent5">
                    <a:lumMod val="60000"/>
                    <a:lumOff val="40000"/>
                  </a:schemeClr>
                </a:solidFill>
              </a:rPr>
              <a:t>(check your browser’s download settings)</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286826" y="3041650"/>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5341621" y="3862455"/>
            <a:ext cx="4610100" cy="400110"/>
          </a:xfrm>
          <a:prstGeom prst="rect">
            <a:avLst/>
          </a:prstGeom>
          <a:solidFill>
            <a:schemeClr val="bg1">
              <a:lumMod val="95000"/>
            </a:schemeClr>
          </a:solid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time.</a:t>
            </a:r>
          </a:p>
        </p:txBody>
      </p:sp>
      <p:sp>
        <p:nvSpPr>
          <p:cNvPr id="7" name="TextBox 6">
            <a:extLst>
              <a:ext uri="{FF2B5EF4-FFF2-40B4-BE49-F238E27FC236}">
                <a16:creationId xmlns:a16="http://schemas.microsoft.com/office/drawing/2014/main" id="{0047C43B-A368-4A86-78C1-D9B765D1A218}"/>
              </a:ext>
            </a:extLst>
          </p:cNvPr>
          <p:cNvSpPr txBox="1"/>
          <p:nvPr/>
        </p:nvSpPr>
        <p:spPr>
          <a:xfrm>
            <a:off x="11646241" y="3665439"/>
            <a:ext cx="338554" cy="2565767"/>
          </a:xfrm>
          <a:prstGeom prst="rect">
            <a:avLst/>
          </a:prstGeom>
          <a:noFill/>
        </p:spPr>
        <p:txBody>
          <a:bodyPr vert="eaVert" wrap="none" rtlCol="0">
            <a:spAutoFit/>
          </a:bodyPr>
          <a:lstStyle/>
          <a:p>
            <a:r>
              <a:rPr lang="en-US" sz="1000" dirty="0">
                <a:solidFill>
                  <a:schemeClr val="accent5">
                    <a:lumMod val="60000"/>
                    <a:lumOff val="40000"/>
                  </a:schemeClr>
                </a:solidFill>
              </a:rPr>
              <a:t>Use this small scroll bar to navigate the table</a:t>
            </a:r>
          </a:p>
        </p:txBody>
      </p:sp>
      <p:sp>
        <p:nvSpPr>
          <p:cNvPr id="4" name="TextBox 3">
            <a:extLst>
              <a:ext uri="{FF2B5EF4-FFF2-40B4-BE49-F238E27FC236}">
                <a16:creationId xmlns:a16="http://schemas.microsoft.com/office/drawing/2014/main" id="{9B3E4AE1-B797-5E42-B959-804F7D2205F5}"/>
              </a:ext>
            </a:extLst>
          </p:cNvPr>
          <p:cNvSpPr txBox="1"/>
          <p:nvPr/>
        </p:nvSpPr>
        <p:spPr>
          <a:xfrm>
            <a:off x="3603625" y="4583900"/>
            <a:ext cx="2230438" cy="400110"/>
          </a:xfrm>
          <a:prstGeom prst="rect">
            <a:avLst/>
          </a:prstGeom>
          <a:solidFill>
            <a:schemeClr val="bg1">
              <a:lumMod val="95000"/>
            </a:schemeClr>
          </a:solidFill>
        </p:spPr>
        <p:txBody>
          <a:bodyPr wrap="square" rtlCol="0">
            <a:spAutoFit/>
          </a:bodyPr>
          <a:lstStyle/>
          <a:p>
            <a:r>
              <a:rPr lang="en-US" sz="1000" dirty="0">
                <a:solidFill>
                  <a:schemeClr val="accent5">
                    <a:lumMod val="60000"/>
                    <a:lumOff val="40000"/>
                  </a:schemeClr>
                </a:solidFill>
              </a:rPr>
              <a:t>Click any item in the barcode column to search for it across all tables</a:t>
            </a:r>
          </a:p>
        </p:txBody>
      </p:sp>
      <p:cxnSp>
        <p:nvCxnSpPr>
          <p:cNvPr id="6" name="Straight Arrow Connector 5">
            <a:extLst>
              <a:ext uri="{FF2B5EF4-FFF2-40B4-BE49-F238E27FC236}">
                <a16:creationId xmlns:a16="http://schemas.microsoft.com/office/drawing/2014/main" id="{F6284F84-FCB4-345E-7CCB-BD14E9CCFCBA}"/>
              </a:ext>
            </a:extLst>
          </p:cNvPr>
          <p:cNvCxnSpPr>
            <a:stCxn id="4" idx="1"/>
          </p:cNvCxnSpPr>
          <p:nvPr/>
        </p:nvCxnSpPr>
        <p:spPr>
          <a:xfrm flipH="1" flipV="1">
            <a:off x="3457575" y="4024313"/>
            <a:ext cx="146050" cy="7596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1532CCF7-BCCC-13A6-7A3B-1239A349BDA4}"/>
              </a:ext>
            </a:extLst>
          </p:cNvPr>
          <p:cNvCxnSpPr/>
          <p:nvPr/>
        </p:nvCxnSpPr>
        <p:spPr>
          <a:xfrm flipH="1">
            <a:off x="3457575" y="4783955"/>
            <a:ext cx="146050" cy="97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C788984-6F66-5D21-FBE5-EFF62C3077E4}"/>
              </a:ext>
            </a:extLst>
          </p:cNvPr>
          <p:cNvCxnSpPr>
            <a:stCxn id="4" idx="1"/>
          </p:cNvCxnSpPr>
          <p:nvPr/>
        </p:nvCxnSpPr>
        <p:spPr>
          <a:xfrm flipH="1">
            <a:off x="3457575" y="4783955"/>
            <a:ext cx="146050" cy="5548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465708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Date aliases: substitution</a:t>
            </a:r>
          </a:p>
        </p:txBody>
      </p:sp>
      <p:sp>
        <p:nvSpPr>
          <p:cNvPr id="8" name="TextBox 7">
            <a:extLst>
              <a:ext uri="{FF2B5EF4-FFF2-40B4-BE49-F238E27FC236}">
                <a16:creationId xmlns:a16="http://schemas.microsoft.com/office/drawing/2014/main" id="{4FB82E23-9579-5F7E-3A16-B1E8FAD1A983}"/>
              </a:ext>
            </a:extLst>
          </p:cNvPr>
          <p:cNvSpPr txBox="1"/>
          <p:nvPr/>
        </p:nvSpPr>
        <p:spPr>
          <a:xfrm>
            <a:off x="2423054" y="961826"/>
            <a:ext cx="7330340" cy="369332"/>
          </a:xfrm>
          <a:prstGeom prst="rect">
            <a:avLst/>
          </a:prstGeom>
          <a:noFill/>
        </p:spPr>
        <p:txBody>
          <a:bodyPr wrap="none" rtlCol="0">
            <a:spAutoFit/>
          </a:bodyPr>
          <a:lstStyle/>
          <a:p>
            <a:r>
              <a:rPr lang="en-US" dirty="0">
                <a:solidFill>
                  <a:schemeClr val="accent5">
                    <a:lumMod val="60000"/>
                    <a:lumOff val="40000"/>
                  </a:schemeClr>
                </a:solidFill>
              </a:rPr>
              <a:t>Executing the search will substitute date aliases with their actual values </a:t>
            </a:r>
          </a:p>
        </p:txBody>
      </p:sp>
      <p:sp>
        <p:nvSpPr>
          <p:cNvPr id="9" name="TextBox 8">
            <a:extLst>
              <a:ext uri="{FF2B5EF4-FFF2-40B4-BE49-F238E27FC236}">
                <a16:creationId xmlns:a16="http://schemas.microsoft.com/office/drawing/2014/main" id="{6CD8616F-AD1A-557E-1906-EAB15FC574B9}"/>
              </a:ext>
            </a:extLst>
          </p:cNvPr>
          <p:cNvSpPr txBox="1"/>
          <p:nvPr/>
        </p:nvSpPr>
        <p:spPr>
          <a:xfrm>
            <a:off x="2075747" y="3553241"/>
            <a:ext cx="8385629" cy="707886"/>
          </a:xfrm>
          <a:prstGeom prst="rect">
            <a:avLst/>
          </a:prstGeom>
          <a:noFill/>
        </p:spPr>
        <p:txBody>
          <a:bodyPr wrap="none" rtlCol="0">
            <a:spAutoFit/>
          </a:bodyPr>
          <a:lstStyle/>
          <a:p>
            <a:r>
              <a:rPr lang="en-US" sz="1000" dirty="0">
                <a:solidFill>
                  <a:schemeClr val="accent5">
                    <a:lumMod val="60000"/>
                    <a:lumOff val="40000"/>
                  </a:schemeClr>
                </a:solidFill>
              </a:rPr>
              <a:t>If you use a shift alias without a date, the app infers that you meant the most recent time that shift ran (including the current shift)</a:t>
            </a:r>
          </a:p>
          <a:p>
            <a:r>
              <a:rPr lang="en-US" sz="1000" dirty="0">
                <a:solidFill>
                  <a:schemeClr val="accent5">
                    <a:lumMod val="60000"/>
                    <a:lumOff val="40000"/>
                  </a:schemeClr>
                </a:solidFill>
              </a:rPr>
              <a:t>If you use a time without a date, the app infers you meant today at that time. This MUST be in quotes, otherwise the tool cannot read it properly.</a:t>
            </a:r>
          </a:p>
          <a:p>
            <a:r>
              <a:rPr lang="en-US" sz="1000" dirty="0">
                <a:solidFill>
                  <a:schemeClr val="accent5">
                    <a:lumMod val="60000"/>
                    <a:lumOff val="40000"/>
                  </a:schemeClr>
                </a:solidFill>
              </a:rPr>
              <a:t>24hr time works best, but you can use AM/PM just the same IF you don’t put a space between the time and AM/PM (the tool does not understand that)</a:t>
            </a:r>
          </a:p>
          <a:p>
            <a:r>
              <a:rPr lang="en-US" sz="1000" dirty="0">
                <a:solidFill>
                  <a:schemeClr val="accent5">
                    <a:lumMod val="60000"/>
                    <a:lumOff val="40000"/>
                  </a:schemeClr>
                </a:solidFill>
              </a:rPr>
              <a:t>If you use a date or date alias without a time, the app infers that you meant that entire day, adjusting midnight/23:59 for after/before, respectively</a:t>
            </a:r>
          </a:p>
        </p:txBody>
      </p:sp>
      <p:pic>
        <p:nvPicPr>
          <p:cNvPr id="12" name="Picture 11">
            <a:extLst>
              <a:ext uri="{FF2B5EF4-FFF2-40B4-BE49-F238E27FC236}">
                <a16:creationId xmlns:a16="http://schemas.microsoft.com/office/drawing/2014/main" id="{C3A24205-E27A-3A00-818A-3DCB5A8CF526}"/>
              </a:ext>
            </a:extLst>
          </p:cNvPr>
          <p:cNvPicPr>
            <a:picLocks noChangeAspect="1"/>
          </p:cNvPicPr>
          <p:nvPr/>
        </p:nvPicPr>
        <p:blipFill>
          <a:blip r:embed="rId2"/>
          <a:stretch>
            <a:fillRect/>
          </a:stretch>
        </p:blipFill>
        <p:spPr>
          <a:xfrm>
            <a:off x="0" y="1331158"/>
            <a:ext cx="12192000" cy="2125276"/>
          </a:xfrm>
          <a:prstGeom prst="rect">
            <a:avLst/>
          </a:prstGeom>
        </p:spPr>
      </p:pic>
      <p:pic>
        <p:nvPicPr>
          <p:cNvPr id="14" name="Picture 13">
            <a:extLst>
              <a:ext uri="{FF2B5EF4-FFF2-40B4-BE49-F238E27FC236}">
                <a16:creationId xmlns:a16="http://schemas.microsoft.com/office/drawing/2014/main" id="{12117802-F104-B64A-B97C-F9B635C9B584}"/>
              </a:ext>
            </a:extLst>
          </p:cNvPr>
          <p:cNvPicPr>
            <a:picLocks noChangeAspect="1"/>
          </p:cNvPicPr>
          <p:nvPr/>
        </p:nvPicPr>
        <p:blipFill>
          <a:blip r:embed="rId3"/>
          <a:stretch>
            <a:fillRect/>
          </a:stretch>
        </p:blipFill>
        <p:spPr>
          <a:xfrm>
            <a:off x="0" y="4204047"/>
            <a:ext cx="12192000" cy="2173603"/>
          </a:xfrm>
          <a:prstGeom prst="rect">
            <a:avLst/>
          </a:prstGeom>
        </p:spPr>
      </p:pic>
      <p:sp>
        <p:nvSpPr>
          <p:cNvPr id="15" name="TextBox 14">
            <a:extLst>
              <a:ext uri="{FF2B5EF4-FFF2-40B4-BE49-F238E27FC236}">
                <a16:creationId xmlns:a16="http://schemas.microsoft.com/office/drawing/2014/main" id="{B312287C-B1B2-1700-3016-FFBDF74B2F52}"/>
              </a:ext>
            </a:extLst>
          </p:cNvPr>
          <p:cNvSpPr txBox="1"/>
          <p:nvPr/>
        </p:nvSpPr>
        <p:spPr>
          <a:xfrm>
            <a:off x="2935605" y="2933213"/>
            <a:ext cx="8408071" cy="246221"/>
          </a:xfrm>
          <a:prstGeom prst="rect">
            <a:avLst/>
          </a:prstGeom>
          <a:noFill/>
        </p:spPr>
        <p:txBody>
          <a:bodyPr wrap="none" rtlCol="0">
            <a:spAutoFit/>
          </a:bodyPr>
          <a:lstStyle/>
          <a:p>
            <a:r>
              <a:rPr lang="en-US" sz="1000" dirty="0">
                <a:solidFill>
                  <a:schemeClr val="accent5">
                    <a:lumMod val="60000"/>
                    <a:lumOff val="40000"/>
                  </a:schemeClr>
                </a:solidFill>
              </a:rPr>
              <a:t>When you click an alias, it’s added to the search. If you have a key waiting for a value, only the alias is appended. Otherwise, it assumes “after: &lt;alias&gt;”</a:t>
            </a:r>
          </a:p>
        </p:txBody>
      </p:sp>
    </p:spTree>
    <p:extLst>
      <p:ext uri="{BB962C8B-B14F-4D97-AF65-F5344CB8AC3E}">
        <p14:creationId xmlns:p14="http://schemas.microsoft.com/office/powerpoint/2010/main" val="13312157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966AC-DF68-1371-1B89-51E8378E58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A073A6-6A21-2356-F7BC-C395C4327FB9}"/>
              </a:ext>
            </a:extLst>
          </p:cNvPr>
          <p:cNvSpPr>
            <a:spLocks noGrp="1"/>
          </p:cNvSpPr>
          <p:nvPr>
            <p:ph type="title"/>
          </p:nvPr>
        </p:nvSpPr>
        <p:spPr/>
        <p:txBody>
          <a:bodyPr>
            <a:normAutofit fontScale="90000"/>
          </a:bodyPr>
          <a:lstStyle/>
          <a:p>
            <a:r>
              <a:rPr lang="en-US" dirty="0"/>
              <a:t>Date aliases: inclusivity</a:t>
            </a:r>
          </a:p>
        </p:txBody>
      </p:sp>
      <p:pic>
        <p:nvPicPr>
          <p:cNvPr id="4" name="Picture 3">
            <a:extLst>
              <a:ext uri="{FF2B5EF4-FFF2-40B4-BE49-F238E27FC236}">
                <a16:creationId xmlns:a16="http://schemas.microsoft.com/office/drawing/2014/main" id="{580E075A-4965-96E4-2F70-5771AC5EBEAB}"/>
              </a:ext>
            </a:extLst>
          </p:cNvPr>
          <p:cNvPicPr>
            <a:picLocks noChangeAspect="1"/>
          </p:cNvPicPr>
          <p:nvPr/>
        </p:nvPicPr>
        <p:blipFill>
          <a:blip r:embed="rId2"/>
          <a:stretch>
            <a:fillRect/>
          </a:stretch>
        </p:blipFill>
        <p:spPr>
          <a:xfrm>
            <a:off x="-7776" y="1420864"/>
            <a:ext cx="12192000" cy="2126512"/>
          </a:xfrm>
          <a:prstGeom prst="rect">
            <a:avLst/>
          </a:prstGeom>
        </p:spPr>
      </p:pic>
      <p:pic>
        <p:nvPicPr>
          <p:cNvPr id="6" name="Picture 5">
            <a:extLst>
              <a:ext uri="{FF2B5EF4-FFF2-40B4-BE49-F238E27FC236}">
                <a16:creationId xmlns:a16="http://schemas.microsoft.com/office/drawing/2014/main" id="{71C4CC66-7000-3460-3A20-F9B7517F03C9}"/>
              </a:ext>
            </a:extLst>
          </p:cNvPr>
          <p:cNvPicPr>
            <a:picLocks noChangeAspect="1"/>
          </p:cNvPicPr>
          <p:nvPr/>
        </p:nvPicPr>
        <p:blipFill>
          <a:blip r:embed="rId3"/>
          <a:stretch>
            <a:fillRect/>
          </a:stretch>
        </p:blipFill>
        <p:spPr>
          <a:xfrm>
            <a:off x="-7776" y="4063180"/>
            <a:ext cx="12192000" cy="2112335"/>
          </a:xfrm>
          <a:prstGeom prst="rect">
            <a:avLst/>
          </a:prstGeom>
        </p:spPr>
      </p:pic>
      <p:sp>
        <p:nvSpPr>
          <p:cNvPr id="7" name="TextBox 6">
            <a:extLst>
              <a:ext uri="{FF2B5EF4-FFF2-40B4-BE49-F238E27FC236}">
                <a16:creationId xmlns:a16="http://schemas.microsoft.com/office/drawing/2014/main" id="{7E25A5EC-BC50-2870-EDE3-BE96FDCFF86E}"/>
              </a:ext>
            </a:extLst>
          </p:cNvPr>
          <p:cNvSpPr txBox="1"/>
          <p:nvPr/>
        </p:nvSpPr>
        <p:spPr>
          <a:xfrm>
            <a:off x="3367592" y="903340"/>
            <a:ext cx="5456815" cy="369332"/>
          </a:xfrm>
          <a:prstGeom prst="rect">
            <a:avLst/>
          </a:prstGeom>
          <a:noFill/>
        </p:spPr>
        <p:txBody>
          <a:bodyPr wrap="none" rtlCol="0">
            <a:spAutoFit/>
          </a:bodyPr>
          <a:lstStyle/>
          <a:p>
            <a:r>
              <a:rPr lang="en-US" dirty="0">
                <a:solidFill>
                  <a:schemeClr val="accent5">
                    <a:lumMod val="60000"/>
                    <a:lumOff val="40000"/>
                  </a:schemeClr>
                </a:solidFill>
              </a:rPr>
              <a:t>These searches are identical except for the inclusivity</a:t>
            </a:r>
          </a:p>
        </p:txBody>
      </p:sp>
      <p:cxnSp>
        <p:nvCxnSpPr>
          <p:cNvPr id="9" name="Straight Arrow Connector 8">
            <a:extLst>
              <a:ext uri="{FF2B5EF4-FFF2-40B4-BE49-F238E27FC236}">
                <a16:creationId xmlns:a16="http://schemas.microsoft.com/office/drawing/2014/main" id="{5462BBA9-D8B4-4598-5704-1C3089FFE12A}"/>
              </a:ext>
            </a:extLst>
          </p:cNvPr>
          <p:cNvCxnSpPr>
            <a:stCxn id="7" idx="3"/>
          </p:cNvCxnSpPr>
          <p:nvPr/>
        </p:nvCxnSpPr>
        <p:spPr>
          <a:xfrm>
            <a:off x="8824407" y="1088006"/>
            <a:ext cx="1797873" cy="11522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A6D271E4-A0CA-C590-08FC-F3953DACA122}"/>
              </a:ext>
            </a:extLst>
          </p:cNvPr>
          <p:cNvCxnSpPr>
            <a:stCxn id="7" idx="3"/>
          </p:cNvCxnSpPr>
          <p:nvPr/>
        </p:nvCxnSpPr>
        <p:spPr>
          <a:xfrm>
            <a:off x="8824407" y="1088006"/>
            <a:ext cx="2399853" cy="38268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19BD6AFD-DD81-7F06-2D23-D8A903F28F6F}"/>
              </a:ext>
            </a:extLst>
          </p:cNvPr>
          <p:cNvSpPr txBox="1"/>
          <p:nvPr/>
        </p:nvSpPr>
        <p:spPr>
          <a:xfrm>
            <a:off x="4991100" y="2484120"/>
            <a:ext cx="3154680" cy="400110"/>
          </a:xfrm>
          <a:prstGeom prst="rect">
            <a:avLst/>
          </a:prstGeom>
          <a:noFill/>
        </p:spPr>
        <p:txBody>
          <a:bodyPr wrap="square" rtlCol="0">
            <a:spAutoFit/>
          </a:bodyPr>
          <a:lstStyle/>
          <a:p>
            <a:r>
              <a:rPr lang="en-US" sz="1000" dirty="0">
                <a:solidFill>
                  <a:schemeClr val="accent5">
                    <a:lumMod val="60000"/>
                    <a:lumOff val="40000"/>
                  </a:schemeClr>
                </a:solidFill>
              </a:rPr>
              <a:t>This gathers all the entries between the time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a:t>
            </a:r>
            <a:r>
              <a:rPr lang="en-US" sz="1000" b="1" dirty="0">
                <a:solidFill>
                  <a:schemeClr val="accent5">
                    <a:lumMod val="60000"/>
                    <a:lumOff val="40000"/>
                  </a:schemeClr>
                </a:solidFill>
              </a:rPr>
              <a:t>started</a:t>
            </a:r>
            <a:r>
              <a:rPr lang="en-US" sz="1000" dirty="0">
                <a:solidFill>
                  <a:schemeClr val="accent5">
                    <a:lumMod val="60000"/>
                    <a:lumOff val="40000"/>
                  </a:schemeClr>
                </a:solidFill>
              </a:rPr>
              <a:t> yesterday and the time 1</a:t>
            </a:r>
            <a:r>
              <a:rPr lang="en-US" sz="1000" baseline="30000" dirty="0">
                <a:solidFill>
                  <a:schemeClr val="accent5">
                    <a:lumMod val="60000"/>
                    <a:lumOff val="40000"/>
                  </a:schemeClr>
                </a:solidFill>
              </a:rPr>
              <a:t>st</a:t>
            </a:r>
            <a:r>
              <a:rPr lang="en-US" sz="1000" dirty="0">
                <a:solidFill>
                  <a:schemeClr val="accent5">
                    <a:lumMod val="60000"/>
                    <a:lumOff val="40000"/>
                  </a:schemeClr>
                </a:solidFill>
              </a:rPr>
              <a:t> shift </a:t>
            </a:r>
            <a:r>
              <a:rPr lang="en-US" sz="1000" b="1" dirty="0">
                <a:solidFill>
                  <a:schemeClr val="accent5">
                    <a:lumMod val="60000"/>
                    <a:lumOff val="40000"/>
                  </a:schemeClr>
                </a:solidFill>
              </a:rPr>
              <a:t>will end</a:t>
            </a:r>
            <a:r>
              <a:rPr lang="en-US" sz="1000" dirty="0">
                <a:solidFill>
                  <a:schemeClr val="accent5">
                    <a:lumMod val="60000"/>
                    <a:lumOff val="40000"/>
                  </a:schemeClr>
                </a:solidFill>
              </a:rPr>
              <a:t> today</a:t>
            </a:r>
          </a:p>
        </p:txBody>
      </p:sp>
      <p:sp>
        <p:nvSpPr>
          <p:cNvPr id="14" name="TextBox 13">
            <a:extLst>
              <a:ext uri="{FF2B5EF4-FFF2-40B4-BE49-F238E27FC236}">
                <a16:creationId xmlns:a16="http://schemas.microsoft.com/office/drawing/2014/main" id="{BA311667-E1E8-67B8-7987-8F01722295D0}"/>
              </a:ext>
            </a:extLst>
          </p:cNvPr>
          <p:cNvSpPr txBox="1"/>
          <p:nvPr/>
        </p:nvSpPr>
        <p:spPr>
          <a:xfrm>
            <a:off x="4853940" y="5119347"/>
            <a:ext cx="3154680" cy="400110"/>
          </a:xfrm>
          <a:prstGeom prst="rect">
            <a:avLst/>
          </a:prstGeom>
          <a:noFill/>
        </p:spPr>
        <p:txBody>
          <a:bodyPr wrap="square" rtlCol="0">
            <a:spAutoFit/>
          </a:bodyPr>
          <a:lstStyle/>
          <a:p>
            <a:r>
              <a:rPr lang="en-US" sz="1000" dirty="0">
                <a:solidFill>
                  <a:schemeClr val="accent5">
                    <a:lumMod val="60000"/>
                    <a:lumOff val="40000"/>
                  </a:schemeClr>
                </a:solidFill>
              </a:rPr>
              <a:t>This gathers all the entries between the time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 </a:t>
            </a:r>
            <a:r>
              <a:rPr lang="en-US" sz="1000" b="1" dirty="0">
                <a:solidFill>
                  <a:schemeClr val="accent5">
                    <a:lumMod val="60000"/>
                    <a:lumOff val="40000"/>
                  </a:schemeClr>
                </a:solidFill>
              </a:rPr>
              <a:t>ended</a:t>
            </a:r>
            <a:r>
              <a:rPr lang="en-US" sz="1000" dirty="0">
                <a:solidFill>
                  <a:schemeClr val="accent5">
                    <a:lumMod val="60000"/>
                    <a:lumOff val="40000"/>
                  </a:schemeClr>
                </a:solidFill>
              </a:rPr>
              <a:t> yesterday and the time 1</a:t>
            </a:r>
            <a:r>
              <a:rPr lang="en-US" sz="1000" baseline="30000" dirty="0">
                <a:solidFill>
                  <a:schemeClr val="accent5">
                    <a:lumMod val="60000"/>
                    <a:lumOff val="40000"/>
                  </a:schemeClr>
                </a:solidFill>
              </a:rPr>
              <a:t>st</a:t>
            </a:r>
            <a:r>
              <a:rPr lang="en-US" sz="1000" dirty="0">
                <a:solidFill>
                  <a:schemeClr val="accent5">
                    <a:lumMod val="60000"/>
                    <a:lumOff val="40000"/>
                  </a:schemeClr>
                </a:solidFill>
              </a:rPr>
              <a:t> shift </a:t>
            </a:r>
            <a:r>
              <a:rPr lang="en-US" sz="1000" b="1" dirty="0">
                <a:solidFill>
                  <a:schemeClr val="accent5">
                    <a:lumMod val="60000"/>
                    <a:lumOff val="40000"/>
                  </a:schemeClr>
                </a:solidFill>
              </a:rPr>
              <a:t>started</a:t>
            </a:r>
            <a:r>
              <a:rPr lang="en-US" sz="1000" dirty="0">
                <a:solidFill>
                  <a:schemeClr val="accent5">
                    <a:lumMod val="60000"/>
                    <a:lumOff val="40000"/>
                  </a:schemeClr>
                </a:solidFill>
              </a:rPr>
              <a:t> today</a:t>
            </a:r>
          </a:p>
        </p:txBody>
      </p:sp>
      <p:sp>
        <p:nvSpPr>
          <p:cNvPr id="15" name="TextBox 14">
            <a:extLst>
              <a:ext uri="{FF2B5EF4-FFF2-40B4-BE49-F238E27FC236}">
                <a16:creationId xmlns:a16="http://schemas.microsoft.com/office/drawing/2014/main" id="{A4354E10-1A7B-B20C-55E5-1E2D53AA0F2C}"/>
              </a:ext>
            </a:extLst>
          </p:cNvPr>
          <p:cNvSpPr txBox="1"/>
          <p:nvPr/>
        </p:nvSpPr>
        <p:spPr>
          <a:xfrm>
            <a:off x="5935980" y="2903426"/>
            <a:ext cx="3154680" cy="553998"/>
          </a:xfrm>
          <a:prstGeom prst="rect">
            <a:avLst/>
          </a:prstGeom>
          <a:noFill/>
        </p:spPr>
        <p:txBody>
          <a:bodyPr wrap="square" rtlCol="0">
            <a:spAutoFit/>
          </a:bodyPr>
          <a:lstStyle/>
          <a:p>
            <a:r>
              <a:rPr lang="en-US" sz="1000" dirty="0">
                <a:solidFill>
                  <a:schemeClr val="accent5">
                    <a:lumMod val="60000"/>
                    <a:lumOff val="40000"/>
                  </a:schemeClr>
                </a:solidFill>
              </a:rPr>
              <a:t>Searching before the current shift with inclusive mode enabled is the only time the tool will search the future (to capture the entire first shift)</a:t>
            </a:r>
          </a:p>
        </p:txBody>
      </p:sp>
      <p:sp>
        <p:nvSpPr>
          <p:cNvPr id="3" name="TextBox 2">
            <a:extLst>
              <a:ext uri="{FF2B5EF4-FFF2-40B4-BE49-F238E27FC236}">
                <a16:creationId xmlns:a16="http://schemas.microsoft.com/office/drawing/2014/main" id="{84C2E879-9512-B35C-BB49-9B6962179F9B}"/>
              </a:ext>
            </a:extLst>
          </p:cNvPr>
          <p:cNvSpPr txBox="1"/>
          <p:nvPr/>
        </p:nvSpPr>
        <p:spPr>
          <a:xfrm>
            <a:off x="1065883" y="1237918"/>
            <a:ext cx="8034572" cy="400110"/>
          </a:xfrm>
          <a:prstGeom prst="rect">
            <a:avLst/>
          </a:prstGeom>
          <a:noFill/>
        </p:spPr>
        <p:txBody>
          <a:bodyPr wrap="none" rtlCol="0">
            <a:spAutoFit/>
          </a:bodyPr>
          <a:lstStyle/>
          <a:p>
            <a:r>
              <a:rPr lang="en-US" sz="1000" dirty="0">
                <a:solidFill>
                  <a:schemeClr val="accent5">
                    <a:lumMod val="60000"/>
                    <a:lumOff val="40000"/>
                  </a:schemeClr>
                </a:solidFill>
              </a:rPr>
              <a:t>These searches were performed during first shift on 2/27, so auto-detection mapped shift1 to the current shift and shift2 to yesterday’s 2</a:t>
            </a:r>
            <a:r>
              <a:rPr lang="en-US" sz="1000" baseline="30000" dirty="0">
                <a:solidFill>
                  <a:schemeClr val="accent5">
                    <a:lumMod val="60000"/>
                    <a:lumOff val="40000"/>
                  </a:schemeClr>
                </a:solidFill>
              </a:rPr>
              <a:t>nd</a:t>
            </a:r>
            <a:r>
              <a:rPr lang="en-US" sz="1000" dirty="0">
                <a:solidFill>
                  <a:schemeClr val="accent5">
                    <a:lumMod val="60000"/>
                    <a:lumOff val="40000"/>
                  </a:schemeClr>
                </a:solidFill>
              </a:rPr>
              <a:t> shift</a:t>
            </a:r>
          </a:p>
          <a:p>
            <a:r>
              <a:rPr lang="en-US" sz="1000" dirty="0">
                <a:solidFill>
                  <a:schemeClr val="accent5">
                    <a:lumMod val="60000"/>
                    <a:lumOff val="40000"/>
                  </a:schemeClr>
                </a:solidFill>
              </a:rPr>
              <a:t>The shift3 alias was not used, but if it were, it would correspond to the 3</a:t>
            </a:r>
            <a:r>
              <a:rPr lang="en-US" sz="1000" baseline="30000" dirty="0">
                <a:solidFill>
                  <a:schemeClr val="accent5">
                    <a:lumMod val="60000"/>
                    <a:lumOff val="40000"/>
                  </a:schemeClr>
                </a:solidFill>
              </a:rPr>
              <a:t>rd</a:t>
            </a:r>
            <a:r>
              <a:rPr lang="en-US" sz="1000" dirty="0">
                <a:solidFill>
                  <a:schemeClr val="accent5">
                    <a:lumMod val="60000"/>
                    <a:lumOff val="40000"/>
                  </a:schemeClr>
                </a:solidFill>
              </a:rPr>
              <a:t> shift in between (spanning 2/26 to 2/27) </a:t>
            </a:r>
          </a:p>
        </p:txBody>
      </p:sp>
    </p:spTree>
    <p:extLst>
      <p:ext uri="{BB962C8B-B14F-4D97-AF65-F5344CB8AC3E}">
        <p14:creationId xmlns:p14="http://schemas.microsoft.com/office/powerpoint/2010/main" val="42483252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A2C12-BC6F-E862-6846-3FB131E36646}"/>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98098F3C-EE5C-2069-B200-DFB8C5B7F0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3953" y="905060"/>
            <a:ext cx="11504094" cy="5721773"/>
          </a:xfrm>
          <a:prstGeom prst="rect">
            <a:avLst/>
          </a:prstGeom>
        </p:spPr>
      </p:pic>
      <p:sp>
        <p:nvSpPr>
          <p:cNvPr id="2" name="Title 1">
            <a:extLst>
              <a:ext uri="{FF2B5EF4-FFF2-40B4-BE49-F238E27FC236}">
                <a16:creationId xmlns:a16="http://schemas.microsoft.com/office/drawing/2014/main" id="{131E5247-CFC6-1974-8A97-D7C60B7DB3C4}"/>
              </a:ext>
            </a:extLst>
          </p:cNvPr>
          <p:cNvSpPr>
            <a:spLocks noGrp="1"/>
          </p:cNvSpPr>
          <p:nvPr>
            <p:ph type="title"/>
          </p:nvPr>
        </p:nvSpPr>
        <p:spPr/>
        <p:txBody>
          <a:bodyPr>
            <a:normAutofit fontScale="90000"/>
          </a:bodyPr>
          <a:lstStyle/>
          <a:p>
            <a:r>
              <a:rPr lang="en-US" dirty="0"/>
              <a:t>Errors: non-fatal</a:t>
            </a:r>
          </a:p>
        </p:txBody>
      </p:sp>
      <p:sp>
        <p:nvSpPr>
          <p:cNvPr id="8" name="TextBox 7">
            <a:extLst>
              <a:ext uri="{FF2B5EF4-FFF2-40B4-BE49-F238E27FC236}">
                <a16:creationId xmlns:a16="http://schemas.microsoft.com/office/drawing/2014/main" id="{D893546E-EB3B-4311-D8CE-A3F7226FA1C0}"/>
              </a:ext>
            </a:extLst>
          </p:cNvPr>
          <p:cNvSpPr txBox="1"/>
          <p:nvPr/>
        </p:nvSpPr>
        <p:spPr>
          <a:xfrm>
            <a:off x="5080000" y="905060"/>
            <a:ext cx="6375400" cy="400110"/>
          </a:xfrm>
          <a:prstGeom prst="rect">
            <a:avLst/>
          </a:prstGeom>
          <a:noFill/>
        </p:spPr>
        <p:txBody>
          <a:bodyPr wrap="square" rtlCol="0">
            <a:spAutoFit/>
          </a:bodyPr>
          <a:lstStyle/>
          <a:p>
            <a:r>
              <a:rPr lang="en-US" sz="1000" dirty="0">
                <a:solidFill>
                  <a:schemeClr val="accent5">
                    <a:lumMod val="60000"/>
                    <a:lumOff val="40000"/>
                  </a:schemeClr>
                </a:solidFill>
              </a:rPr>
              <a:t>Hopefully, your error list won’t be this long. Errors with a </a:t>
            </a:r>
            <a:r>
              <a:rPr lang="en-US" sz="1000" dirty="0">
                <a:solidFill>
                  <a:srgbClr val="CCCC00"/>
                </a:solidFill>
              </a:rPr>
              <a:t>yellow</a:t>
            </a:r>
            <a:r>
              <a:rPr lang="en-US" sz="1000" dirty="0">
                <a:solidFill>
                  <a:schemeClr val="accent5">
                    <a:lumMod val="60000"/>
                    <a:lumOff val="40000"/>
                  </a:schemeClr>
                </a:solidFill>
              </a:rPr>
              <a:t> background are non-fatal, and the search will execute with even this many, automatically applying the changes it mentions.</a:t>
            </a:r>
          </a:p>
        </p:txBody>
      </p:sp>
      <p:sp>
        <p:nvSpPr>
          <p:cNvPr id="9" name="TextBox 8">
            <a:extLst>
              <a:ext uri="{FF2B5EF4-FFF2-40B4-BE49-F238E27FC236}">
                <a16:creationId xmlns:a16="http://schemas.microsoft.com/office/drawing/2014/main" id="{B2F54417-3E01-407A-F858-8A3C055D1EFB}"/>
              </a:ext>
            </a:extLst>
          </p:cNvPr>
          <p:cNvSpPr txBox="1"/>
          <p:nvPr/>
        </p:nvSpPr>
        <p:spPr>
          <a:xfrm>
            <a:off x="5554980" y="5448300"/>
            <a:ext cx="3084499" cy="246221"/>
          </a:xfrm>
          <a:prstGeom prst="rect">
            <a:avLst/>
          </a:prstGeom>
          <a:noFill/>
        </p:spPr>
        <p:txBody>
          <a:bodyPr wrap="none" rtlCol="0">
            <a:spAutoFit/>
          </a:bodyPr>
          <a:lstStyle/>
          <a:p>
            <a:r>
              <a:rPr lang="en-US" sz="1000" dirty="0">
                <a:solidFill>
                  <a:schemeClr val="accent5">
                    <a:lumMod val="60000"/>
                    <a:lumOff val="40000"/>
                  </a:schemeClr>
                </a:solidFill>
              </a:rPr>
              <a:t>The preview still shows you what the search bar sees</a:t>
            </a:r>
          </a:p>
        </p:txBody>
      </p:sp>
      <p:sp>
        <p:nvSpPr>
          <p:cNvPr id="10" name="TextBox 9">
            <a:extLst>
              <a:ext uri="{FF2B5EF4-FFF2-40B4-BE49-F238E27FC236}">
                <a16:creationId xmlns:a16="http://schemas.microsoft.com/office/drawing/2014/main" id="{5EBE789C-34CF-E74F-B747-85F8C21AC87E}"/>
              </a:ext>
            </a:extLst>
          </p:cNvPr>
          <p:cNvSpPr txBox="1"/>
          <p:nvPr/>
        </p:nvSpPr>
        <p:spPr>
          <a:xfrm>
            <a:off x="7216140" y="2103120"/>
            <a:ext cx="4239261" cy="400110"/>
          </a:xfrm>
          <a:prstGeom prst="rect">
            <a:avLst/>
          </a:prstGeom>
          <a:noFill/>
        </p:spPr>
        <p:txBody>
          <a:bodyPr wrap="square" rtlCol="0">
            <a:spAutoFit/>
          </a:bodyPr>
          <a:lstStyle/>
          <a:p>
            <a:r>
              <a:rPr lang="en-US" sz="1000" dirty="0">
                <a:solidFill>
                  <a:schemeClr val="accent5">
                    <a:lumMod val="60000"/>
                    <a:lumOff val="40000"/>
                  </a:schemeClr>
                </a:solidFill>
              </a:rPr>
              <a:t>If the messages are taking up too much space, you can click the X on each to dismiss them, but they’ll automatically go away on your next search</a:t>
            </a:r>
          </a:p>
        </p:txBody>
      </p:sp>
      <p:sp>
        <p:nvSpPr>
          <p:cNvPr id="3" name="TextBox 2">
            <a:extLst>
              <a:ext uri="{FF2B5EF4-FFF2-40B4-BE49-F238E27FC236}">
                <a16:creationId xmlns:a16="http://schemas.microsoft.com/office/drawing/2014/main" id="{D644F14D-634B-B789-35FD-F12B0F9C5291}"/>
              </a:ext>
            </a:extLst>
          </p:cNvPr>
          <p:cNvSpPr txBox="1"/>
          <p:nvPr/>
        </p:nvSpPr>
        <p:spPr>
          <a:xfrm>
            <a:off x="2617843" y="6488668"/>
            <a:ext cx="7941277" cy="369332"/>
          </a:xfrm>
          <a:prstGeom prst="rect">
            <a:avLst/>
          </a:prstGeom>
          <a:noFill/>
        </p:spPr>
        <p:txBody>
          <a:bodyPr wrap="none" rtlCol="0">
            <a:spAutoFit/>
          </a:bodyPr>
          <a:lstStyle/>
          <a:p>
            <a:r>
              <a:rPr lang="en-US" dirty="0">
                <a:solidFill>
                  <a:schemeClr val="accent5">
                    <a:lumMod val="60000"/>
                    <a:lumOff val="40000"/>
                  </a:schemeClr>
                </a:solidFill>
              </a:rPr>
              <a:t>This particular set of amended filters didn’t yield results, so they are not shown</a:t>
            </a:r>
          </a:p>
        </p:txBody>
      </p:sp>
      <p:sp>
        <p:nvSpPr>
          <p:cNvPr id="4" name="TextBox 3">
            <a:extLst>
              <a:ext uri="{FF2B5EF4-FFF2-40B4-BE49-F238E27FC236}">
                <a16:creationId xmlns:a16="http://schemas.microsoft.com/office/drawing/2014/main" id="{4DAB0DE7-2BC7-91A8-36E5-6921FC5A733D}"/>
              </a:ext>
            </a:extLst>
          </p:cNvPr>
          <p:cNvSpPr txBox="1"/>
          <p:nvPr/>
        </p:nvSpPr>
        <p:spPr>
          <a:xfrm>
            <a:off x="3585096" y="5202079"/>
            <a:ext cx="6006773" cy="246221"/>
          </a:xfrm>
          <a:prstGeom prst="rect">
            <a:avLst/>
          </a:prstGeom>
          <a:noFill/>
        </p:spPr>
        <p:txBody>
          <a:bodyPr wrap="none" rtlCol="0">
            <a:spAutoFit/>
          </a:bodyPr>
          <a:lstStyle/>
          <a:p>
            <a:r>
              <a:rPr lang="en-US" sz="1000" dirty="0">
                <a:solidFill>
                  <a:schemeClr val="accent5">
                    <a:lumMod val="60000"/>
                    <a:lumOff val="40000"/>
                  </a:schemeClr>
                </a:solidFill>
              </a:rPr>
              <a:t>Side note: this is alias translation at work. Observe how the error messages refer to ‘today’ and ‘yesterday’</a:t>
            </a:r>
          </a:p>
        </p:txBody>
      </p:sp>
    </p:spTree>
    <p:extLst>
      <p:ext uri="{BB962C8B-B14F-4D97-AF65-F5344CB8AC3E}">
        <p14:creationId xmlns:p14="http://schemas.microsoft.com/office/powerpoint/2010/main" val="40377284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C3669-D863-6864-1A21-1202733B6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F53FA-3658-1012-7C1F-DB01C0914C26}"/>
              </a:ext>
            </a:extLst>
          </p:cNvPr>
          <p:cNvSpPr>
            <a:spLocks noGrp="1"/>
          </p:cNvSpPr>
          <p:nvPr>
            <p:ph type="title"/>
          </p:nvPr>
        </p:nvSpPr>
        <p:spPr/>
        <p:txBody>
          <a:bodyPr>
            <a:normAutofit fontScale="90000"/>
          </a:bodyPr>
          <a:lstStyle/>
          <a:p>
            <a:r>
              <a:rPr lang="en-US" dirty="0"/>
              <a:t>Errors: fatal</a:t>
            </a:r>
          </a:p>
        </p:txBody>
      </p:sp>
      <p:pic>
        <p:nvPicPr>
          <p:cNvPr id="3" name="Picture 2">
            <a:extLst>
              <a:ext uri="{FF2B5EF4-FFF2-40B4-BE49-F238E27FC236}">
                <a16:creationId xmlns:a16="http://schemas.microsoft.com/office/drawing/2014/main" id="{DC51CD2C-FD60-1CB8-BF63-F3F1EF2CAF87}"/>
              </a:ext>
            </a:extLst>
          </p:cNvPr>
          <p:cNvPicPr>
            <a:picLocks noChangeAspect="1"/>
          </p:cNvPicPr>
          <p:nvPr/>
        </p:nvPicPr>
        <p:blipFill>
          <a:blip r:embed="rId2"/>
          <a:stretch>
            <a:fillRect/>
          </a:stretch>
        </p:blipFill>
        <p:spPr>
          <a:xfrm>
            <a:off x="343953" y="905060"/>
            <a:ext cx="11645925" cy="5721773"/>
          </a:xfrm>
          <a:prstGeom prst="rect">
            <a:avLst/>
          </a:prstGeom>
        </p:spPr>
      </p:pic>
      <p:sp>
        <p:nvSpPr>
          <p:cNvPr id="4" name="TextBox 3">
            <a:extLst>
              <a:ext uri="{FF2B5EF4-FFF2-40B4-BE49-F238E27FC236}">
                <a16:creationId xmlns:a16="http://schemas.microsoft.com/office/drawing/2014/main" id="{0AC97319-FB44-95EE-0DE8-0B9399758BF0}"/>
              </a:ext>
            </a:extLst>
          </p:cNvPr>
          <p:cNvSpPr txBox="1"/>
          <p:nvPr/>
        </p:nvSpPr>
        <p:spPr>
          <a:xfrm>
            <a:off x="5204460" y="836480"/>
            <a:ext cx="6628036" cy="400110"/>
          </a:xfrm>
          <a:prstGeom prst="rect">
            <a:avLst/>
          </a:prstGeom>
          <a:noFill/>
        </p:spPr>
        <p:txBody>
          <a:bodyPr wrap="square" rtlCol="0">
            <a:spAutoFit/>
          </a:bodyPr>
          <a:lstStyle/>
          <a:p>
            <a:r>
              <a:rPr lang="en-US" sz="1000" dirty="0">
                <a:solidFill>
                  <a:schemeClr val="accent5">
                    <a:lumMod val="60000"/>
                    <a:lumOff val="40000"/>
                  </a:schemeClr>
                </a:solidFill>
              </a:rPr>
              <a:t>With just one </a:t>
            </a:r>
            <a:r>
              <a:rPr lang="en-US" sz="1000" dirty="0">
                <a:solidFill>
                  <a:srgbClr val="FF0000"/>
                </a:solidFill>
              </a:rPr>
              <a:t>red</a:t>
            </a:r>
            <a:r>
              <a:rPr lang="en-US" sz="1000" dirty="0">
                <a:solidFill>
                  <a:schemeClr val="accent5">
                    <a:lumMod val="60000"/>
                    <a:lumOff val="40000"/>
                  </a:schemeClr>
                </a:solidFill>
              </a:rPr>
              <a:t> background error, your search won’t even execute. These usually mean the tool had no idea what you meant and needs your help to correct it.</a:t>
            </a:r>
          </a:p>
        </p:txBody>
      </p:sp>
      <p:sp>
        <p:nvSpPr>
          <p:cNvPr id="5" name="TextBox 4">
            <a:extLst>
              <a:ext uri="{FF2B5EF4-FFF2-40B4-BE49-F238E27FC236}">
                <a16:creationId xmlns:a16="http://schemas.microsoft.com/office/drawing/2014/main" id="{F650995D-7AFE-CEF4-A241-8D981FF19ED8}"/>
              </a:ext>
            </a:extLst>
          </p:cNvPr>
          <p:cNvSpPr txBox="1"/>
          <p:nvPr/>
        </p:nvSpPr>
        <p:spPr>
          <a:xfrm>
            <a:off x="4572001" y="5768274"/>
            <a:ext cx="4353884" cy="369332"/>
          </a:xfrm>
          <a:prstGeom prst="rect">
            <a:avLst/>
          </a:prstGeom>
          <a:noFill/>
        </p:spPr>
        <p:txBody>
          <a:bodyPr wrap="none" rtlCol="0">
            <a:spAutoFit/>
          </a:bodyPr>
          <a:lstStyle/>
          <a:p>
            <a:r>
              <a:rPr lang="en-US" dirty="0">
                <a:solidFill>
                  <a:schemeClr val="accent5">
                    <a:lumMod val="60000"/>
                    <a:lumOff val="40000"/>
                  </a:schemeClr>
                </a:solidFill>
              </a:rPr>
              <a:t>We’ll discuss this symbol on the next slide</a:t>
            </a:r>
          </a:p>
        </p:txBody>
      </p:sp>
    </p:spTree>
    <p:extLst>
      <p:ext uri="{BB962C8B-B14F-4D97-AF65-F5344CB8AC3E}">
        <p14:creationId xmlns:p14="http://schemas.microsoft.com/office/powerpoint/2010/main" val="1829035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0019B-18C9-8DA4-ADC2-9E0554FBFC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1B8B7-2FC9-B970-BB58-D121B7B2504F}"/>
              </a:ext>
            </a:extLst>
          </p:cNvPr>
          <p:cNvSpPr>
            <a:spLocks noGrp="1"/>
          </p:cNvSpPr>
          <p:nvPr>
            <p:ph type="title"/>
          </p:nvPr>
        </p:nvSpPr>
        <p:spPr/>
        <p:txBody>
          <a:bodyPr>
            <a:normAutofit fontScale="90000"/>
          </a:bodyPr>
          <a:lstStyle/>
          <a:p>
            <a:r>
              <a:rPr lang="en-US" dirty="0"/>
              <a:t>No results</a:t>
            </a:r>
          </a:p>
        </p:txBody>
      </p:sp>
      <p:pic>
        <p:nvPicPr>
          <p:cNvPr id="6" name="Picture 5">
            <a:extLst>
              <a:ext uri="{FF2B5EF4-FFF2-40B4-BE49-F238E27FC236}">
                <a16:creationId xmlns:a16="http://schemas.microsoft.com/office/drawing/2014/main" id="{0F84AACD-BD35-CEFB-7ED0-443AB88B5E5C}"/>
              </a:ext>
            </a:extLst>
          </p:cNvPr>
          <p:cNvPicPr>
            <a:picLocks noChangeAspect="1"/>
          </p:cNvPicPr>
          <p:nvPr/>
        </p:nvPicPr>
        <p:blipFill>
          <a:blip r:embed="rId2"/>
          <a:stretch>
            <a:fillRect/>
          </a:stretch>
        </p:blipFill>
        <p:spPr>
          <a:xfrm>
            <a:off x="138260" y="905060"/>
            <a:ext cx="11915480" cy="5889332"/>
          </a:xfrm>
          <a:prstGeom prst="rect">
            <a:avLst/>
          </a:prstGeom>
        </p:spPr>
      </p:pic>
      <p:sp>
        <p:nvSpPr>
          <p:cNvPr id="7" name="TextBox 6">
            <a:extLst>
              <a:ext uri="{FF2B5EF4-FFF2-40B4-BE49-F238E27FC236}">
                <a16:creationId xmlns:a16="http://schemas.microsoft.com/office/drawing/2014/main" id="{A3AAD2EA-878B-20DB-EFE5-4AA2068FD6FE}"/>
              </a:ext>
            </a:extLst>
          </p:cNvPr>
          <p:cNvSpPr txBox="1"/>
          <p:nvPr/>
        </p:nvSpPr>
        <p:spPr>
          <a:xfrm>
            <a:off x="2865748" y="4392891"/>
            <a:ext cx="8399283" cy="923330"/>
          </a:xfrm>
          <a:prstGeom prst="rect">
            <a:avLst/>
          </a:prstGeom>
          <a:noFill/>
        </p:spPr>
        <p:txBody>
          <a:bodyPr wrap="square" rtlCol="0">
            <a:spAutoFit/>
          </a:bodyPr>
          <a:lstStyle/>
          <a:p>
            <a:r>
              <a:rPr lang="en-US" dirty="0">
                <a:solidFill>
                  <a:schemeClr val="accent5">
                    <a:lumMod val="60000"/>
                    <a:lumOff val="40000"/>
                  </a:schemeClr>
                </a:solidFill>
              </a:rPr>
              <a:t>There weren’t any errors in this search, but there’s no group with a number that high, so there weren’t any results. The tool can’t really help you here, so just double check the preview to make sure your search is what you really meant.</a:t>
            </a:r>
          </a:p>
        </p:txBody>
      </p:sp>
    </p:spTree>
    <p:extLst>
      <p:ext uri="{BB962C8B-B14F-4D97-AF65-F5344CB8AC3E}">
        <p14:creationId xmlns:p14="http://schemas.microsoft.com/office/powerpoint/2010/main" val="3376209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F4F0-7155-EA88-572B-4B1787D35D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7413-4D7E-5693-63EA-976DF3A2D269}"/>
              </a:ext>
            </a:extLst>
          </p:cNvPr>
          <p:cNvSpPr>
            <a:spLocks noGrp="1"/>
          </p:cNvSpPr>
          <p:nvPr>
            <p:ph type="title"/>
          </p:nvPr>
        </p:nvSpPr>
        <p:spPr>
          <a:xfrm>
            <a:off x="2882660" y="225156"/>
            <a:ext cx="7007289" cy="679904"/>
          </a:xfrm>
        </p:spPr>
        <p:txBody>
          <a:bodyPr>
            <a:normAutofit fontScale="90000"/>
          </a:bodyPr>
          <a:lstStyle/>
          <a:p>
            <a:r>
              <a:rPr lang="en-US" dirty="0"/>
              <a:t>Sharing/saving a search</a:t>
            </a:r>
          </a:p>
        </p:txBody>
      </p:sp>
      <p:pic>
        <p:nvPicPr>
          <p:cNvPr id="6" name="Picture 5">
            <a:extLst>
              <a:ext uri="{FF2B5EF4-FFF2-40B4-BE49-F238E27FC236}">
                <a16:creationId xmlns:a16="http://schemas.microsoft.com/office/drawing/2014/main" id="{5990B596-6295-4BDD-C739-4648EACA5A6E}"/>
              </a:ext>
            </a:extLst>
          </p:cNvPr>
          <p:cNvPicPr>
            <a:picLocks noChangeAspect="1"/>
          </p:cNvPicPr>
          <p:nvPr/>
        </p:nvPicPr>
        <p:blipFill>
          <a:blip r:embed="rId2"/>
          <a:stretch>
            <a:fillRect/>
          </a:stretch>
        </p:blipFill>
        <p:spPr>
          <a:xfrm>
            <a:off x="474775" y="905060"/>
            <a:ext cx="11242450" cy="5952940"/>
          </a:xfrm>
          <a:prstGeom prst="rect">
            <a:avLst/>
          </a:prstGeom>
        </p:spPr>
      </p:pic>
      <p:sp>
        <p:nvSpPr>
          <p:cNvPr id="11" name="TextBox 10">
            <a:extLst>
              <a:ext uri="{FF2B5EF4-FFF2-40B4-BE49-F238E27FC236}">
                <a16:creationId xmlns:a16="http://schemas.microsoft.com/office/drawing/2014/main" id="{32FE8624-0354-434F-ED90-948C9128A00D}"/>
              </a:ext>
            </a:extLst>
          </p:cNvPr>
          <p:cNvSpPr txBox="1"/>
          <p:nvPr/>
        </p:nvSpPr>
        <p:spPr>
          <a:xfrm>
            <a:off x="5730240" y="2042160"/>
            <a:ext cx="6065521" cy="553998"/>
          </a:xfrm>
          <a:prstGeom prst="rect">
            <a:avLst/>
          </a:prstGeom>
          <a:noFill/>
        </p:spPr>
        <p:txBody>
          <a:bodyPr wrap="square" rtlCol="0">
            <a:spAutoFit/>
          </a:bodyPr>
          <a:lstStyle/>
          <a:p>
            <a:r>
              <a:rPr lang="en-US" sz="1000" dirty="0">
                <a:solidFill>
                  <a:schemeClr val="accent5">
                    <a:lumMod val="60000"/>
                    <a:lumOff val="40000"/>
                  </a:schemeClr>
                </a:solidFill>
              </a:rPr>
              <a:t>The power search page builds a URL from your search so it can be easily shared. Simply copy the search bar and have someone else paste it after they start the program on their machine. Barring no changes in the database, this will show them the exact same results, down to the filters, sorts, and page.</a:t>
            </a:r>
          </a:p>
        </p:txBody>
      </p:sp>
      <p:sp>
        <p:nvSpPr>
          <p:cNvPr id="12" name="TextBox 11">
            <a:extLst>
              <a:ext uri="{FF2B5EF4-FFF2-40B4-BE49-F238E27FC236}">
                <a16:creationId xmlns:a16="http://schemas.microsoft.com/office/drawing/2014/main" id="{A1C675E6-3CD9-717D-1688-4D9849996C6F}"/>
              </a:ext>
            </a:extLst>
          </p:cNvPr>
          <p:cNvSpPr txBox="1"/>
          <p:nvPr/>
        </p:nvSpPr>
        <p:spPr>
          <a:xfrm>
            <a:off x="2159056" y="1177303"/>
            <a:ext cx="1309974" cy="246221"/>
          </a:xfrm>
          <a:prstGeom prst="rect">
            <a:avLst/>
          </a:prstGeom>
          <a:solidFill>
            <a:schemeClr val="bg1">
              <a:lumMod val="95000"/>
            </a:schemeClr>
          </a:solidFill>
        </p:spPr>
        <p:txBody>
          <a:bodyPr wrap="none" rtlCol="0">
            <a:spAutoFit/>
          </a:bodyPr>
          <a:lstStyle/>
          <a:p>
            <a:r>
              <a:rPr lang="en-US" sz="1000" dirty="0">
                <a:solidFill>
                  <a:schemeClr val="accent5">
                    <a:lumMod val="60000"/>
                    <a:lumOff val="40000"/>
                  </a:schemeClr>
                </a:solidFill>
              </a:rPr>
              <a:t>Filters (q parameter)</a:t>
            </a:r>
          </a:p>
        </p:txBody>
      </p:sp>
      <p:sp>
        <p:nvSpPr>
          <p:cNvPr id="13" name="TextBox 12">
            <a:extLst>
              <a:ext uri="{FF2B5EF4-FFF2-40B4-BE49-F238E27FC236}">
                <a16:creationId xmlns:a16="http://schemas.microsoft.com/office/drawing/2014/main" id="{EB085110-4EE6-B587-55D1-6D6B5F770E4E}"/>
              </a:ext>
            </a:extLst>
          </p:cNvPr>
          <p:cNvSpPr txBox="1"/>
          <p:nvPr/>
        </p:nvSpPr>
        <p:spPr>
          <a:xfrm>
            <a:off x="2413621" y="312565"/>
            <a:ext cx="1196768" cy="400110"/>
          </a:xfrm>
          <a:prstGeom prst="rect">
            <a:avLst/>
          </a:prstGeom>
          <a:noFill/>
        </p:spPr>
        <p:txBody>
          <a:bodyPr wrap="square" rtlCol="0">
            <a:spAutoFit/>
          </a:bodyPr>
          <a:lstStyle/>
          <a:p>
            <a:r>
              <a:rPr lang="en-US" sz="1000" dirty="0">
                <a:solidFill>
                  <a:schemeClr val="accent5">
                    <a:lumMod val="60000"/>
                    <a:lumOff val="40000"/>
                  </a:schemeClr>
                </a:solidFill>
              </a:rPr>
              <a:t>Page # and size (p and </a:t>
            </a:r>
            <a:r>
              <a:rPr lang="en-US" sz="1000" dirty="0" err="1">
                <a:solidFill>
                  <a:schemeClr val="accent5">
                    <a:lumMod val="60000"/>
                    <a:lumOff val="40000"/>
                  </a:schemeClr>
                </a:solidFill>
              </a:rPr>
              <a:t>ps</a:t>
            </a:r>
            <a:r>
              <a:rPr lang="en-US" sz="1000" dirty="0">
                <a:solidFill>
                  <a:schemeClr val="accent5">
                    <a:lumMod val="60000"/>
                    <a:lumOff val="40000"/>
                  </a:schemeClr>
                </a:solidFill>
              </a:rPr>
              <a:t> parameter)</a:t>
            </a:r>
          </a:p>
        </p:txBody>
      </p:sp>
      <p:sp>
        <p:nvSpPr>
          <p:cNvPr id="14" name="Left Brace 13">
            <a:extLst>
              <a:ext uri="{FF2B5EF4-FFF2-40B4-BE49-F238E27FC236}">
                <a16:creationId xmlns:a16="http://schemas.microsoft.com/office/drawing/2014/main" id="{DD8F6288-1251-C95B-E6D4-7EA848E1ACB8}"/>
              </a:ext>
            </a:extLst>
          </p:cNvPr>
          <p:cNvSpPr/>
          <p:nvPr/>
        </p:nvSpPr>
        <p:spPr>
          <a:xfrm rot="5400000">
            <a:off x="3876202" y="608347"/>
            <a:ext cx="187479" cy="484985"/>
          </a:xfrm>
          <a:prstGeom prst="leftBrace">
            <a:avLst>
              <a:gd name="adj1" fmla="val 121922"/>
              <a:gd name="adj2" fmla="val 72108"/>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FA62EA89-D0E1-E4CE-FA72-B2A463455346}"/>
              </a:ext>
            </a:extLst>
          </p:cNvPr>
          <p:cNvSpPr/>
          <p:nvPr/>
        </p:nvSpPr>
        <p:spPr>
          <a:xfrm rot="16200000">
            <a:off x="2720304" y="263646"/>
            <a:ext cx="187479" cy="1749028"/>
          </a:xfrm>
          <a:prstGeom prst="leftBrace">
            <a:avLst>
              <a:gd name="adj1" fmla="val 121922"/>
              <a:gd name="adj2" fmla="val 50103"/>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5" name="Left Brace 14">
            <a:extLst>
              <a:ext uri="{FF2B5EF4-FFF2-40B4-BE49-F238E27FC236}">
                <a16:creationId xmlns:a16="http://schemas.microsoft.com/office/drawing/2014/main" id="{C6A887F2-8DEA-C06A-5E8F-B253A8AFE198}"/>
              </a:ext>
            </a:extLst>
          </p:cNvPr>
          <p:cNvSpPr/>
          <p:nvPr/>
        </p:nvSpPr>
        <p:spPr>
          <a:xfrm rot="16200000">
            <a:off x="4665036" y="688662"/>
            <a:ext cx="187479" cy="959955"/>
          </a:xfrm>
          <a:prstGeom prst="leftBrace">
            <a:avLst>
              <a:gd name="adj1" fmla="val 121922"/>
              <a:gd name="adj2" fmla="val 77886"/>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1867A19A-6ED5-5AEF-1258-6B495F336CE0}"/>
              </a:ext>
            </a:extLst>
          </p:cNvPr>
          <p:cNvSpPr txBox="1"/>
          <p:nvPr/>
        </p:nvSpPr>
        <p:spPr>
          <a:xfrm>
            <a:off x="4854476" y="1227388"/>
            <a:ext cx="3063659" cy="246221"/>
          </a:xfrm>
          <a:prstGeom prst="rect">
            <a:avLst/>
          </a:prstGeom>
          <a:noFill/>
        </p:spPr>
        <p:txBody>
          <a:bodyPr wrap="none" rtlCol="0">
            <a:spAutoFit/>
          </a:bodyPr>
          <a:lstStyle/>
          <a:p>
            <a:r>
              <a:rPr lang="en-US" sz="1000" dirty="0">
                <a:solidFill>
                  <a:schemeClr val="accent5">
                    <a:lumMod val="60000"/>
                    <a:lumOff val="40000"/>
                  </a:schemeClr>
                </a:solidFill>
              </a:rPr>
              <a:t>Sort column name and direction (s and d parameter)</a:t>
            </a:r>
          </a:p>
        </p:txBody>
      </p:sp>
      <p:sp>
        <p:nvSpPr>
          <p:cNvPr id="17" name="TextBox 16">
            <a:extLst>
              <a:ext uri="{FF2B5EF4-FFF2-40B4-BE49-F238E27FC236}">
                <a16:creationId xmlns:a16="http://schemas.microsoft.com/office/drawing/2014/main" id="{A8BCED61-1553-BC3C-44F8-23EB4F15941B}"/>
              </a:ext>
            </a:extLst>
          </p:cNvPr>
          <p:cNvSpPr txBox="1"/>
          <p:nvPr/>
        </p:nvSpPr>
        <p:spPr>
          <a:xfrm>
            <a:off x="9162854" y="108124"/>
            <a:ext cx="2828041" cy="553998"/>
          </a:xfrm>
          <a:prstGeom prst="rect">
            <a:avLst/>
          </a:prstGeom>
          <a:noFill/>
        </p:spPr>
        <p:txBody>
          <a:bodyPr wrap="square" rtlCol="0">
            <a:spAutoFit/>
          </a:bodyPr>
          <a:lstStyle/>
          <a:p>
            <a:r>
              <a:rPr lang="en-US" sz="1000" dirty="0">
                <a:solidFill>
                  <a:schemeClr val="accent5">
                    <a:lumMod val="60000"/>
                    <a:lumOff val="40000"/>
                  </a:schemeClr>
                </a:solidFill>
              </a:rPr>
              <a:t>The URL updates on a successful search, sort, or page change, so it always matches the search that was used to get the table being displayed</a:t>
            </a:r>
          </a:p>
        </p:txBody>
      </p:sp>
      <p:cxnSp>
        <p:nvCxnSpPr>
          <p:cNvPr id="8" name="Straight Connector 7">
            <a:extLst>
              <a:ext uri="{FF2B5EF4-FFF2-40B4-BE49-F238E27FC236}">
                <a16:creationId xmlns:a16="http://schemas.microsoft.com/office/drawing/2014/main" id="{735F002F-E060-9C83-8E8C-80EA4E1891CA}"/>
              </a:ext>
            </a:extLst>
          </p:cNvPr>
          <p:cNvCxnSpPr>
            <a:cxnSpLocks/>
            <a:stCxn id="14" idx="1"/>
            <a:endCxn id="13" idx="2"/>
          </p:cNvCxnSpPr>
          <p:nvPr/>
        </p:nvCxnSpPr>
        <p:spPr>
          <a:xfrm flipH="1" flipV="1">
            <a:off x="3012005" y="712675"/>
            <a:ext cx="850716" cy="44425"/>
          </a:xfrm>
          <a:prstGeom prst="line">
            <a:avLst/>
          </a:prstGeom>
          <a:ln w="28575"/>
        </p:spPr>
        <p:style>
          <a:lnRef idx="2">
            <a:schemeClr val="accent2"/>
          </a:lnRef>
          <a:fillRef idx="0">
            <a:schemeClr val="accent2"/>
          </a:fillRef>
          <a:effectRef idx="1">
            <a:schemeClr val="accent2"/>
          </a:effectRef>
          <a:fontRef idx="minor">
            <a:schemeClr val="tx1"/>
          </a:fontRef>
        </p:style>
      </p:cxnSp>
      <p:sp>
        <p:nvSpPr>
          <p:cNvPr id="22" name="TextBox 21">
            <a:extLst>
              <a:ext uri="{FF2B5EF4-FFF2-40B4-BE49-F238E27FC236}">
                <a16:creationId xmlns:a16="http://schemas.microsoft.com/office/drawing/2014/main" id="{8ACEFA24-ED4C-7B54-2B92-423DD64D115A}"/>
              </a:ext>
            </a:extLst>
          </p:cNvPr>
          <p:cNvSpPr txBox="1"/>
          <p:nvPr/>
        </p:nvSpPr>
        <p:spPr>
          <a:xfrm>
            <a:off x="6614160" y="2665432"/>
            <a:ext cx="4790094" cy="246221"/>
          </a:xfrm>
          <a:prstGeom prst="rect">
            <a:avLst/>
          </a:prstGeom>
          <a:noFill/>
        </p:spPr>
        <p:txBody>
          <a:bodyPr wrap="none" rtlCol="0">
            <a:spAutoFit/>
          </a:bodyPr>
          <a:lstStyle/>
          <a:p>
            <a:r>
              <a:rPr lang="en-US" sz="1000" dirty="0">
                <a:solidFill>
                  <a:schemeClr val="accent5">
                    <a:lumMod val="60000"/>
                    <a:lumOff val="40000"/>
                  </a:schemeClr>
                </a:solidFill>
              </a:rPr>
              <a:t>This is also a good way to “bookmark” a search you like to execute from time to time</a:t>
            </a:r>
          </a:p>
        </p:txBody>
      </p:sp>
    </p:spTree>
    <p:extLst>
      <p:ext uri="{BB962C8B-B14F-4D97-AF65-F5344CB8AC3E}">
        <p14:creationId xmlns:p14="http://schemas.microsoft.com/office/powerpoint/2010/main" val="3574913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AC4B0-84E9-25AE-0E97-BA6E46ED1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7E824-429E-E3AF-26B0-82FC6F41BC1E}"/>
              </a:ext>
            </a:extLst>
          </p:cNvPr>
          <p:cNvSpPr>
            <a:spLocks noGrp="1"/>
          </p:cNvSpPr>
          <p:nvPr>
            <p:ph type="title"/>
          </p:nvPr>
        </p:nvSpPr>
        <p:spPr/>
        <p:txBody>
          <a:bodyPr>
            <a:normAutofit fontScale="90000"/>
          </a:bodyPr>
          <a:lstStyle/>
          <a:p>
            <a:r>
              <a:rPr lang="en-US" dirty="0"/>
              <a:t>The visual query builder pages</a:t>
            </a:r>
          </a:p>
        </p:txBody>
      </p:sp>
      <p:sp>
        <p:nvSpPr>
          <p:cNvPr id="5" name="TextBox 4">
            <a:extLst>
              <a:ext uri="{FF2B5EF4-FFF2-40B4-BE49-F238E27FC236}">
                <a16:creationId xmlns:a16="http://schemas.microsoft.com/office/drawing/2014/main" id="{6C29B3B5-9A87-9AFE-422B-E7DFF9D402F5}"/>
              </a:ext>
            </a:extLst>
          </p:cNvPr>
          <p:cNvSpPr txBox="1"/>
          <p:nvPr/>
        </p:nvSpPr>
        <p:spPr>
          <a:xfrm>
            <a:off x="307942" y="971533"/>
            <a:ext cx="11576115" cy="2817951"/>
          </a:xfrm>
          <a:prstGeom prst="rect">
            <a:avLst/>
          </a:prstGeom>
          <a:noFill/>
        </p:spPr>
        <p:txBody>
          <a:bodyPr wrap="square" rtlCol="0">
            <a:spAutoFit/>
          </a:bodyPr>
          <a:lstStyle/>
          <a:p>
            <a:pPr marL="342900" indent="-342900">
              <a:lnSpc>
                <a:spcPct val="150000"/>
              </a:lnSpc>
              <a:buFont typeface="Wingdings" panose="05000000000000000000" pitchFamily="2" charset="2"/>
              <a:buChar char="v"/>
            </a:pPr>
            <a:r>
              <a:rPr lang="en-US" sz="2000" dirty="0"/>
              <a:t>The visual query builder (VQ) pages are the app’s three other pages that provide a simpler interface than the search bar at the cost of customization</a:t>
            </a:r>
          </a:p>
          <a:p>
            <a:pPr marL="342900" indent="-342900">
              <a:lnSpc>
                <a:spcPct val="150000"/>
              </a:lnSpc>
              <a:buFont typeface="Wingdings" panose="05000000000000000000" pitchFamily="2" charset="2"/>
              <a:buChar char="v"/>
            </a:pPr>
            <a:r>
              <a:rPr lang="en-US" sz="2000" dirty="0"/>
              <a:t>They are all mostly the same, but provide different form fields depending on what filters are available for their respective tables</a:t>
            </a:r>
          </a:p>
          <a:p>
            <a:pPr marL="342900" indent="-342900">
              <a:lnSpc>
                <a:spcPct val="150000"/>
              </a:lnSpc>
              <a:buFont typeface="Wingdings" panose="05000000000000000000" pitchFamily="2" charset="2"/>
              <a:buChar char="v"/>
            </a:pPr>
            <a:r>
              <a:rPr lang="en-US" sz="2000" dirty="0"/>
              <a:t>Table controls (i.e., sorts, pagination, save to CSV) are the </a:t>
            </a:r>
            <a:r>
              <a:rPr lang="en-US" sz="2000" dirty="0">
                <a:hlinkClick r:id="rId2" action="ppaction://hlinksldjump"/>
              </a:rPr>
              <a:t>same as the power search page</a:t>
            </a:r>
            <a:endParaRPr lang="en-US" sz="2000" dirty="0"/>
          </a:p>
          <a:p>
            <a:pPr marL="342900" indent="-342900">
              <a:lnSpc>
                <a:spcPct val="150000"/>
              </a:lnSpc>
              <a:buFont typeface="Wingdings" panose="05000000000000000000" pitchFamily="2" charset="2"/>
              <a:buChar char="v"/>
            </a:pPr>
            <a:r>
              <a:rPr lang="en-US" sz="2000" dirty="0"/>
              <a:t>Because each VQ page only touches one table, it’s loaded immediately when you navigate here</a:t>
            </a:r>
          </a:p>
        </p:txBody>
      </p:sp>
      <mc:AlternateContent xmlns:mc="http://schemas.openxmlformats.org/markup-compatibility/2006" xmlns:psez="http://schemas.microsoft.com/office/powerpoint/2016/sectionzoom">
        <mc:Choice Requires="psez">
          <p:graphicFrame>
            <p:nvGraphicFramePr>
              <p:cNvPr id="7" name="Section Zoom 6">
                <a:extLst>
                  <a:ext uri="{FF2B5EF4-FFF2-40B4-BE49-F238E27FC236}">
                    <a16:creationId xmlns:a16="http://schemas.microsoft.com/office/drawing/2014/main" id="{A1A68066-76BC-A8B4-8119-5B7D4DC52513}"/>
                  </a:ext>
                </a:extLst>
              </p:cNvPr>
              <p:cNvGraphicFramePr>
                <a:graphicFrameLocks noChangeAspect="1"/>
              </p:cNvGraphicFramePr>
              <p:nvPr>
                <p:extLst>
                  <p:ext uri="{D42A27DB-BD31-4B8C-83A1-F6EECF244321}">
                    <p14:modId xmlns:p14="http://schemas.microsoft.com/office/powerpoint/2010/main" val="2833220977"/>
                  </p:ext>
                </p:extLst>
              </p:nvPr>
            </p:nvGraphicFramePr>
            <p:xfrm>
              <a:off x="-1" y="4643470"/>
              <a:ext cx="3936941" cy="2214529"/>
            </p:xfrm>
            <a:graphic>
              <a:graphicData uri="http://schemas.microsoft.com/office/powerpoint/2016/sectionzoom">
                <psez:sectionZm>
                  <psez:sectionZmObj sectionId="{6CE7CD9C-2386-4479-8C34-F19D2C833D3C}">
                    <psez:zmPr id="{EE694489-654C-47F4-BDEC-80F482857DFE}" transitionDur="1000">
                      <p166:blipFill xmlns:p166="http://schemas.microsoft.com/office/powerpoint/2016/6/main">
                        <a:blip r:embed="rId3"/>
                        <a:stretch>
                          <a:fillRect/>
                        </a:stretch>
                      </p166:blipFill>
                      <p166:spPr xmlns:p166="http://schemas.microsoft.com/office/powerpoint/2016/6/main">
                        <a:xfrm>
                          <a:off x="0" y="0"/>
                          <a:ext cx="3936941" cy="2214529"/>
                        </a:xfrm>
                        <a:prstGeom prst="rect">
                          <a:avLst/>
                        </a:prstGeom>
                        <a:ln w="3175">
                          <a:solidFill>
                            <a:prstClr val="ltGray"/>
                          </a:solidFill>
                        </a:ln>
                      </p166:spPr>
                    </psez:zmPr>
                  </psez:sectionZmObj>
                </psez:sectionZm>
              </a:graphicData>
            </a:graphic>
          </p:graphicFrame>
        </mc:Choice>
        <mc:Fallback xmlns="">
          <p:pic>
            <p:nvPicPr>
              <p:cNvPr id="7" name="Section Zoom 6">
                <a:hlinkClick r:id="rId4" action="ppaction://hlinksldjump"/>
                <a:extLst>
                  <a:ext uri="{FF2B5EF4-FFF2-40B4-BE49-F238E27FC236}">
                    <a16:creationId xmlns:a16="http://schemas.microsoft.com/office/drawing/2014/main" id="{A1A68066-76BC-A8B4-8119-5B7D4DC52513}"/>
                  </a:ext>
                </a:extLst>
              </p:cNvPr>
              <p:cNvPicPr>
                <a:picLocks noGrp="1" noRot="1" noChangeAspect="1" noMove="1" noResize="1" noEditPoints="1" noAdjustHandles="1" noChangeArrowheads="1" noChangeShapeType="1"/>
              </p:cNvPicPr>
              <p:nvPr/>
            </p:nvPicPr>
            <p:blipFill>
              <a:blip r:embed="rId5"/>
              <a:stretch>
                <a:fillRect/>
              </a:stretch>
            </p:blipFill>
            <p:spPr>
              <a:xfrm>
                <a:off x="-1" y="4643470"/>
                <a:ext cx="3936941" cy="2214529"/>
              </a:xfrm>
              <a:prstGeom prst="rect">
                <a:avLst/>
              </a:prstGeom>
              <a:ln w="3175">
                <a:solidFill>
                  <a:prstClr val="ltGray"/>
                </a:solidFill>
              </a:ln>
            </p:spPr>
          </p:pic>
        </mc:Fallback>
      </mc:AlternateContent>
      <mc:AlternateContent xmlns:mc="http://schemas.openxmlformats.org/markup-compatibility/2006" xmlns:psez="http://schemas.microsoft.com/office/powerpoint/2016/sectionzoom">
        <mc:Choice Requires="psez">
          <p:graphicFrame>
            <p:nvGraphicFramePr>
              <p:cNvPr id="9" name="Section Zoom 8">
                <a:extLst>
                  <a:ext uri="{FF2B5EF4-FFF2-40B4-BE49-F238E27FC236}">
                    <a16:creationId xmlns:a16="http://schemas.microsoft.com/office/drawing/2014/main" id="{ACEC8E6E-C1FE-1593-2A42-44E5243BC4FC}"/>
                  </a:ext>
                </a:extLst>
              </p:cNvPr>
              <p:cNvGraphicFramePr>
                <a:graphicFrameLocks noChangeAspect="1"/>
              </p:cNvGraphicFramePr>
              <p:nvPr>
                <p:extLst>
                  <p:ext uri="{D42A27DB-BD31-4B8C-83A1-F6EECF244321}">
                    <p14:modId xmlns:p14="http://schemas.microsoft.com/office/powerpoint/2010/main" val="1877964846"/>
                  </p:ext>
                </p:extLst>
              </p:nvPr>
            </p:nvGraphicFramePr>
            <p:xfrm>
              <a:off x="4074031" y="4643470"/>
              <a:ext cx="3936943" cy="2214530"/>
            </p:xfrm>
            <a:graphic>
              <a:graphicData uri="http://schemas.microsoft.com/office/powerpoint/2016/sectionzoom">
                <psez:sectionZm>
                  <psez:sectionZmObj sectionId="{E059FA79-F2B9-477F-B036-1CA427A041EF}">
                    <psez:zmPr id="{770175D1-B472-437A-B9EF-2F832070CA30}" transitionDur="1000">
                      <p166:blipFill xmlns:p166="http://schemas.microsoft.com/office/powerpoint/2016/6/main">
                        <a:blip r:embed="rId6"/>
                        <a:stretch>
                          <a:fillRect/>
                        </a:stretch>
                      </p166:blipFill>
                      <p166:spPr xmlns:p166="http://schemas.microsoft.com/office/powerpoint/2016/6/main">
                        <a:xfrm>
                          <a:off x="0" y="0"/>
                          <a:ext cx="3936943" cy="2214530"/>
                        </a:xfrm>
                        <a:prstGeom prst="rect">
                          <a:avLst/>
                        </a:prstGeom>
                        <a:ln w="3175">
                          <a:solidFill>
                            <a:prstClr val="ltGray"/>
                          </a:solidFill>
                        </a:ln>
                      </p166:spPr>
                    </psez:zmPr>
                  </psez:sectionZmObj>
                </psez:sectionZm>
              </a:graphicData>
            </a:graphic>
          </p:graphicFrame>
        </mc:Choice>
        <mc:Fallback xmlns="">
          <p:pic>
            <p:nvPicPr>
              <p:cNvPr id="9" name="Section Zoom 8">
                <a:hlinkClick r:id="rId7" action="ppaction://hlinksldjump"/>
                <a:extLst>
                  <a:ext uri="{FF2B5EF4-FFF2-40B4-BE49-F238E27FC236}">
                    <a16:creationId xmlns:a16="http://schemas.microsoft.com/office/drawing/2014/main" id="{ACEC8E6E-C1FE-1593-2A42-44E5243BC4FC}"/>
                  </a:ext>
                </a:extLst>
              </p:cNvPr>
              <p:cNvPicPr>
                <a:picLocks noGrp="1" noRot="1" noChangeAspect="1" noMove="1" noResize="1" noEditPoints="1" noAdjustHandles="1" noChangeArrowheads="1" noChangeShapeType="1"/>
              </p:cNvPicPr>
              <p:nvPr/>
            </p:nvPicPr>
            <p:blipFill>
              <a:blip r:embed="rId8"/>
              <a:stretch>
                <a:fillRect/>
              </a:stretch>
            </p:blipFill>
            <p:spPr>
              <a:xfrm>
                <a:off x="4074031" y="4643470"/>
                <a:ext cx="3936943" cy="2214530"/>
              </a:xfrm>
              <a:prstGeom prst="rect">
                <a:avLst/>
              </a:prstGeom>
              <a:ln w="3175">
                <a:solidFill>
                  <a:prstClr val="ltGray"/>
                </a:solidFill>
              </a:ln>
            </p:spPr>
          </p:pic>
        </mc:Fallback>
      </mc:AlternateContent>
      <mc:AlternateContent xmlns:mc="http://schemas.openxmlformats.org/markup-compatibility/2006" xmlns:psez="http://schemas.microsoft.com/office/powerpoint/2016/sectionzoom">
        <mc:Choice Requires="psez">
          <p:graphicFrame>
            <p:nvGraphicFramePr>
              <p:cNvPr id="11" name="Section Zoom 10">
                <a:extLst>
                  <a:ext uri="{FF2B5EF4-FFF2-40B4-BE49-F238E27FC236}">
                    <a16:creationId xmlns:a16="http://schemas.microsoft.com/office/drawing/2014/main" id="{5CD22BF1-AEAC-FEE5-4293-D9AD56E3E75B}"/>
                  </a:ext>
                </a:extLst>
              </p:cNvPr>
              <p:cNvGraphicFramePr>
                <a:graphicFrameLocks noChangeAspect="1"/>
              </p:cNvGraphicFramePr>
              <p:nvPr>
                <p:extLst>
                  <p:ext uri="{D42A27DB-BD31-4B8C-83A1-F6EECF244321}">
                    <p14:modId xmlns:p14="http://schemas.microsoft.com/office/powerpoint/2010/main" val="1740443159"/>
                  </p:ext>
                </p:extLst>
              </p:nvPr>
            </p:nvGraphicFramePr>
            <p:xfrm>
              <a:off x="8156436" y="4643470"/>
              <a:ext cx="3936943" cy="2214530"/>
            </p:xfrm>
            <a:graphic>
              <a:graphicData uri="http://schemas.microsoft.com/office/powerpoint/2016/sectionzoom">
                <psez:sectionZm>
                  <psez:sectionZmObj sectionId="{B3499BAD-9CFD-4299-BDA4-8843225530E5}">
                    <psez:zmPr id="{C2D22160-606A-45A4-B7AF-50A245F03E4E}" transitionDur="1000">
                      <p166:blipFill xmlns:p166="http://schemas.microsoft.com/office/powerpoint/2016/6/main">
                        <a:blip r:embed="rId9"/>
                        <a:stretch>
                          <a:fillRect/>
                        </a:stretch>
                      </p166:blipFill>
                      <p166:spPr xmlns:p166="http://schemas.microsoft.com/office/powerpoint/2016/6/main">
                        <a:xfrm>
                          <a:off x="0" y="0"/>
                          <a:ext cx="3936943" cy="2214530"/>
                        </a:xfrm>
                        <a:prstGeom prst="rect">
                          <a:avLst/>
                        </a:prstGeom>
                        <a:ln w="3175">
                          <a:solidFill>
                            <a:prstClr val="ltGray"/>
                          </a:solidFill>
                        </a:ln>
                      </p166:spPr>
                    </psez:zmPr>
                  </psez:sectionZmObj>
                </psez:sectionZm>
              </a:graphicData>
            </a:graphic>
          </p:graphicFrame>
        </mc:Choice>
        <mc:Fallback xmlns="">
          <p:pic>
            <p:nvPicPr>
              <p:cNvPr id="11" name="Section Zoom 10">
                <a:hlinkClick r:id="rId10" action="ppaction://hlinksldjump"/>
                <a:extLst>
                  <a:ext uri="{FF2B5EF4-FFF2-40B4-BE49-F238E27FC236}">
                    <a16:creationId xmlns:a16="http://schemas.microsoft.com/office/drawing/2014/main" id="{5CD22BF1-AEAC-FEE5-4293-D9AD56E3E75B}"/>
                  </a:ext>
                </a:extLst>
              </p:cNvPr>
              <p:cNvPicPr>
                <a:picLocks noGrp="1" noRot="1" noChangeAspect="1" noMove="1" noResize="1" noEditPoints="1" noAdjustHandles="1" noChangeArrowheads="1" noChangeShapeType="1"/>
              </p:cNvPicPr>
              <p:nvPr/>
            </p:nvPicPr>
            <p:blipFill>
              <a:blip r:embed="rId11"/>
              <a:stretch>
                <a:fillRect/>
              </a:stretch>
            </p:blipFill>
            <p:spPr>
              <a:xfrm>
                <a:off x="8156436" y="4643470"/>
                <a:ext cx="3936943" cy="2214530"/>
              </a:xfrm>
              <a:prstGeom prst="rect">
                <a:avLst/>
              </a:prstGeom>
              <a:ln w="3175">
                <a:solidFill>
                  <a:prstClr val="ltGray"/>
                </a:solidFill>
              </a:ln>
            </p:spPr>
          </p:pic>
        </mc:Fallback>
      </mc:AlternateContent>
    </p:spTree>
    <p:extLst>
      <p:ext uri="{BB962C8B-B14F-4D97-AF65-F5344CB8AC3E}">
        <p14:creationId xmlns:p14="http://schemas.microsoft.com/office/powerpoint/2010/main" val="1594220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Group table VQ page</a:t>
            </a:r>
          </a:p>
        </p:txBody>
      </p:sp>
      <p:pic>
        <p:nvPicPr>
          <p:cNvPr id="4" name="Picture 3">
            <a:extLst>
              <a:ext uri="{FF2B5EF4-FFF2-40B4-BE49-F238E27FC236}">
                <a16:creationId xmlns:a16="http://schemas.microsoft.com/office/drawing/2014/main" id="{843F2521-DB06-BB5F-3B87-432AE6D7743B}"/>
              </a:ext>
            </a:extLst>
          </p:cNvPr>
          <p:cNvPicPr>
            <a:picLocks noChangeAspect="1"/>
          </p:cNvPicPr>
          <p:nvPr/>
        </p:nvPicPr>
        <p:blipFill>
          <a:blip r:embed="rId2">
            <a:extLst>
              <a:ext uri="{28A0092B-C50C-407E-A947-70E740481C1C}">
                <a14:useLocalDpi xmlns:a14="http://schemas.microsoft.com/office/drawing/2010/main" val="0"/>
              </a:ext>
            </a:extLst>
          </a:blip>
          <a:srcRect t="517"/>
          <a:stretch>
            <a:fillRect/>
          </a:stretch>
        </p:blipFill>
        <p:spPr>
          <a:xfrm>
            <a:off x="329939" y="1027523"/>
            <a:ext cx="11635898" cy="5830478"/>
          </a:xfrm>
          <a:prstGeom prst="rect">
            <a:avLst/>
          </a:prstGeom>
        </p:spPr>
      </p:pic>
      <p:sp>
        <p:nvSpPr>
          <p:cNvPr id="3" name="TextBox 2">
            <a:extLst>
              <a:ext uri="{FF2B5EF4-FFF2-40B4-BE49-F238E27FC236}">
                <a16:creationId xmlns:a16="http://schemas.microsoft.com/office/drawing/2014/main" id="{8F6A998E-2B29-4FF1-6DA3-71ADC3D31D54}"/>
              </a:ext>
            </a:extLst>
          </p:cNvPr>
          <p:cNvSpPr txBox="1"/>
          <p:nvPr/>
        </p:nvSpPr>
        <p:spPr>
          <a:xfrm>
            <a:off x="4164467" y="1413200"/>
            <a:ext cx="2940228" cy="246221"/>
          </a:xfrm>
          <a:prstGeom prst="rect">
            <a:avLst/>
          </a:prstGeom>
          <a:noFill/>
        </p:spPr>
        <p:txBody>
          <a:bodyPr wrap="none" rtlCol="0">
            <a:spAutoFit/>
          </a:bodyPr>
          <a:lstStyle/>
          <a:p>
            <a:r>
              <a:rPr lang="en-US" sz="1000" dirty="0">
                <a:solidFill>
                  <a:schemeClr val="accent5">
                    <a:lumMod val="60000"/>
                    <a:lumOff val="40000"/>
                  </a:schemeClr>
                </a:solidFill>
              </a:rPr>
              <a:t>Lower date granularity: only shift options for times</a:t>
            </a:r>
          </a:p>
        </p:txBody>
      </p:sp>
      <p:sp>
        <p:nvSpPr>
          <p:cNvPr id="5" name="TextBox 4">
            <a:extLst>
              <a:ext uri="{FF2B5EF4-FFF2-40B4-BE49-F238E27FC236}">
                <a16:creationId xmlns:a16="http://schemas.microsoft.com/office/drawing/2014/main" id="{12B17730-789C-9779-36F1-EA85D1494135}"/>
              </a:ext>
            </a:extLst>
          </p:cNvPr>
          <p:cNvSpPr txBox="1"/>
          <p:nvPr/>
        </p:nvSpPr>
        <p:spPr>
          <a:xfrm>
            <a:off x="5320030" y="2564625"/>
            <a:ext cx="2536190" cy="400110"/>
          </a:xfrm>
          <a:prstGeom prst="rect">
            <a:avLst/>
          </a:prstGeom>
          <a:noFill/>
        </p:spPr>
        <p:txBody>
          <a:bodyPr wrap="square" rtlCol="0">
            <a:spAutoFit/>
          </a:bodyPr>
          <a:lstStyle/>
          <a:p>
            <a:r>
              <a:rPr lang="en-US" sz="1000" dirty="0">
                <a:solidFill>
                  <a:schemeClr val="accent5">
                    <a:lumMod val="60000"/>
                    <a:lumOff val="40000"/>
                  </a:schemeClr>
                </a:solidFill>
              </a:rPr>
              <a:t>“=“ button toggles to ≠ for negation. Negating “All Results” will do nothing.</a:t>
            </a:r>
          </a:p>
        </p:txBody>
      </p:sp>
      <p:sp>
        <p:nvSpPr>
          <p:cNvPr id="7" name="TextBox 6">
            <a:extLst>
              <a:ext uri="{FF2B5EF4-FFF2-40B4-BE49-F238E27FC236}">
                <a16:creationId xmlns:a16="http://schemas.microsoft.com/office/drawing/2014/main" id="{6FCBD7A6-5162-FD24-B664-E28D5E842D2D}"/>
              </a:ext>
            </a:extLst>
          </p:cNvPr>
          <p:cNvSpPr txBox="1"/>
          <p:nvPr/>
        </p:nvSpPr>
        <p:spPr>
          <a:xfrm>
            <a:off x="9195930" y="3020358"/>
            <a:ext cx="3010761" cy="246221"/>
          </a:xfrm>
          <a:prstGeom prst="rect">
            <a:avLst/>
          </a:prstGeom>
          <a:noFill/>
        </p:spPr>
        <p:txBody>
          <a:bodyPr wrap="none" rtlCol="0">
            <a:spAutoFit/>
          </a:bodyPr>
          <a:lstStyle/>
          <a:p>
            <a:r>
              <a:rPr lang="en-US" sz="1000" dirty="0">
                <a:solidFill>
                  <a:schemeClr val="accent5">
                    <a:lumMod val="60000"/>
                    <a:lumOff val="40000"/>
                  </a:schemeClr>
                </a:solidFill>
              </a:rPr>
              <a:t>Automatically scrolls down to “</a:t>
            </a:r>
            <a:r>
              <a:rPr lang="en-US" sz="1000" dirty="0" err="1">
                <a:solidFill>
                  <a:schemeClr val="accent5">
                    <a:lumMod val="60000"/>
                    <a:lumOff val="40000"/>
                  </a:schemeClr>
                </a:solidFill>
              </a:rPr>
              <a:t>fullscreen</a:t>
            </a:r>
            <a:r>
              <a:rPr lang="en-US" sz="1000" dirty="0">
                <a:solidFill>
                  <a:schemeClr val="accent5">
                    <a:lumMod val="60000"/>
                    <a:lumOff val="40000"/>
                  </a:schemeClr>
                </a:solidFill>
              </a:rPr>
              <a:t>” the table</a:t>
            </a:r>
          </a:p>
        </p:txBody>
      </p:sp>
      <p:cxnSp>
        <p:nvCxnSpPr>
          <p:cNvPr id="9" name="Straight Arrow Connector 8">
            <a:extLst>
              <a:ext uri="{FF2B5EF4-FFF2-40B4-BE49-F238E27FC236}">
                <a16:creationId xmlns:a16="http://schemas.microsoft.com/office/drawing/2014/main" id="{355C4DED-49E2-189E-2EC9-6F0F1813F736}"/>
              </a:ext>
            </a:extLst>
          </p:cNvPr>
          <p:cNvCxnSpPr>
            <a:cxnSpLocks/>
            <a:stCxn id="7" idx="0"/>
          </p:cNvCxnSpPr>
          <p:nvPr/>
        </p:nvCxnSpPr>
        <p:spPr>
          <a:xfrm flipV="1">
            <a:off x="10701311" y="2834640"/>
            <a:ext cx="644869" cy="18571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1" name="TextBox 10">
            <a:extLst>
              <a:ext uri="{FF2B5EF4-FFF2-40B4-BE49-F238E27FC236}">
                <a16:creationId xmlns:a16="http://schemas.microsoft.com/office/drawing/2014/main" id="{DFC5FEA2-E198-6A41-6D2F-F5DC9B21FCBA}"/>
              </a:ext>
            </a:extLst>
          </p:cNvPr>
          <p:cNvSpPr txBox="1"/>
          <p:nvPr/>
        </p:nvSpPr>
        <p:spPr>
          <a:xfrm>
            <a:off x="2457178" y="2506761"/>
            <a:ext cx="2194325" cy="400110"/>
          </a:xfrm>
          <a:prstGeom prst="rect">
            <a:avLst/>
          </a:prstGeom>
          <a:noFill/>
        </p:spPr>
        <p:txBody>
          <a:bodyPr wrap="square" rtlCol="0">
            <a:spAutoFit/>
          </a:bodyPr>
          <a:lstStyle/>
          <a:p>
            <a:r>
              <a:rPr lang="en-US" sz="1000" dirty="0">
                <a:solidFill>
                  <a:schemeClr val="accent5">
                    <a:lumMod val="60000"/>
                    <a:lumOff val="40000"/>
                  </a:schemeClr>
                </a:solidFill>
              </a:rPr>
              <a:t>Each dropdown contains only the result types present in the database</a:t>
            </a:r>
          </a:p>
        </p:txBody>
      </p:sp>
      <p:sp>
        <p:nvSpPr>
          <p:cNvPr id="12" name="TextBox 11">
            <a:extLst>
              <a:ext uri="{FF2B5EF4-FFF2-40B4-BE49-F238E27FC236}">
                <a16:creationId xmlns:a16="http://schemas.microsoft.com/office/drawing/2014/main" id="{CC0679DD-33C3-0E29-0942-5AE8A9C79660}"/>
              </a:ext>
            </a:extLst>
          </p:cNvPr>
          <p:cNvSpPr txBox="1"/>
          <p:nvPr/>
        </p:nvSpPr>
        <p:spPr>
          <a:xfrm>
            <a:off x="7053895" y="1336255"/>
            <a:ext cx="2467177" cy="400110"/>
          </a:xfrm>
          <a:prstGeom prst="rect">
            <a:avLst/>
          </a:prstGeom>
          <a:noFill/>
        </p:spPr>
        <p:txBody>
          <a:bodyPr wrap="square" rtlCol="0">
            <a:spAutoFit/>
          </a:bodyPr>
          <a:lstStyle/>
          <a:p>
            <a:r>
              <a:rPr lang="en-US" sz="1000" dirty="0">
                <a:solidFill>
                  <a:schemeClr val="accent5">
                    <a:lumMod val="60000"/>
                    <a:lumOff val="40000"/>
                  </a:schemeClr>
                </a:solidFill>
              </a:rPr>
              <a:t>Click mm/dd/</a:t>
            </a:r>
            <a:r>
              <a:rPr lang="en-US" sz="1000" dirty="0" err="1">
                <a:solidFill>
                  <a:schemeClr val="accent5">
                    <a:lumMod val="60000"/>
                    <a:lumOff val="40000"/>
                  </a:schemeClr>
                </a:solidFill>
              </a:rPr>
              <a:t>yyyy</a:t>
            </a:r>
            <a:r>
              <a:rPr lang="en-US" sz="1000" dirty="0">
                <a:solidFill>
                  <a:schemeClr val="accent5">
                    <a:lumMod val="60000"/>
                    <a:lumOff val="40000"/>
                  </a:schemeClr>
                </a:solidFill>
              </a:rPr>
              <a:t> to type, or the calendar icon to choose from a calendar display</a:t>
            </a:r>
          </a:p>
        </p:txBody>
      </p:sp>
      <p:sp>
        <p:nvSpPr>
          <p:cNvPr id="13" name="TextBox 12">
            <a:extLst>
              <a:ext uri="{FF2B5EF4-FFF2-40B4-BE49-F238E27FC236}">
                <a16:creationId xmlns:a16="http://schemas.microsoft.com/office/drawing/2014/main" id="{DF8C4CB3-E99E-6F6B-AB92-03A24EF471F0}"/>
              </a:ext>
            </a:extLst>
          </p:cNvPr>
          <p:cNvSpPr txBox="1"/>
          <p:nvPr/>
        </p:nvSpPr>
        <p:spPr>
          <a:xfrm>
            <a:off x="8337929" y="2537539"/>
            <a:ext cx="1183143" cy="400110"/>
          </a:xfrm>
          <a:prstGeom prst="rect">
            <a:avLst/>
          </a:prstGeom>
          <a:noFill/>
        </p:spPr>
        <p:txBody>
          <a:bodyPr wrap="square" rtlCol="0">
            <a:spAutoFit/>
          </a:bodyPr>
          <a:lstStyle/>
          <a:p>
            <a:r>
              <a:rPr lang="en-US" sz="1000" dirty="0">
                <a:solidFill>
                  <a:schemeClr val="accent5">
                    <a:lumMod val="60000"/>
                    <a:lumOff val="40000"/>
                  </a:schemeClr>
                </a:solidFill>
              </a:rPr>
              <a:t>Still only applies for date filters</a:t>
            </a:r>
          </a:p>
        </p:txBody>
      </p:sp>
    </p:spTree>
    <p:extLst>
      <p:ext uri="{BB962C8B-B14F-4D97-AF65-F5344CB8AC3E}">
        <p14:creationId xmlns:p14="http://schemas.microsoft.com/office/powerpoint/2010/main" val="35051366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p:txBody>
          <a:bodyPr>
            <a:normAutofit fontScale="90000"/>
          </a:bodyPr>
          <a:lstStyle/>
          <a:p>
            <a:r>
              <a:rPr lang="en-US" dirty="0"/>
              <a:t>Step table VQ page</a:t>
            </a:r>
          </a:p>
        </p:txBody>
      </p:sp>
      <p:pic>
        <p:nvPicPr>
          <p:cNvPr id="5" name="Picture 4">
            <a:extLst>
              <a:ext uri="{FF2B5EF4-FFF2-40B4-BE49-F238E27FC236}">
                <a16:creationId xmlns:a16="http://schemas.microsoft.com/office/drawing/2014/main" id="{E67CC57B-D702-FD7E-7FAC-306A411E7A7A}"/>
              </a:ext>
            </a:extLst>
          </p:cNvPr>
          <p:cNvPicPr>
            <a:picLocks noChangeAspect="1"/>
          </p:cNvPicPr>
          <p:nvPr/>
        </p:nvPicPr>
        <p:blipFill>
          <a:blip r:embed="rId2">
            <a:extLst>
              <a:ext uri="{28A0092B-C50C-407E-A947-70E740481C1C}">
                <a14:useLocalDpi xmlns:a14="http://schemas.microsoft.com/office/drawing/2010/main" val="0"/>
              </a:ext>
            </a:extLst>
          </a:blip>
          <a:srcRect t="379"/>
          <a:stretch>
            <a:fillRect/>
          </a:stretch>
        </p:blipFill>
        <p:spPr>
          <a:xfrm>
            <a:off x="314325" y="1022350"/>
            <a:ext cx="11599570" cy="5835650"/>
          </a:xfrm>
          <a:prstGeom prst="rect">
            <a:avLst/>
          </a:prstGeom>
        </p:spPr>
      </p:pic>
      <p:sp>
        <p:nvSpPr>
          <p:cNvPr id="3" name="TextBox 2">
            <a:extLst>
              <a:ext uri="{FF2B5EF4-FFF2-40B4-BE49-F238E27FC236}">
                <a16:creationId xmlns:a16="http://schemas.microsoft.com/office/drawing/2014/main" id="{1C02D5DB-78CC-351C-3557-AAEB1EA5E0D0}"/>
              </a:ext>
            </a:extLst>
          </p:cNvPr>
          <p:cNvSpPr txBox="1"/>
          <p:nvPr/>
        </p:nvSpPr>
        <p:spPr>
          <a:xfrm>
            <a:off x="1706880" y="2537460"/>
            <a:ext cx="5265420" cy="400110"/>
          </a:xfrm>
          <a:prstGeom prst="rect">
            <a:avLst/>
          </a:prstGeom>
          <a:noFill/>
        </p:spPr>
        <p:txBody>
          <a:bodyPr wrap="square" rtlCol="0">
            <a:spAutoFit/>
          </a:bodyPr>
          <a:lstStyle/>
          <a:p>
            <a:r>
              <a:rPr lang="en-US" sz="1000" dirty="0">
                <a:solidFill>
                  <a:schemeClr val="accent5">
                    <a:lumMod val="60000"/>
                    <a:lumOff val="40000"/>
                  </a:schemeClr>
                </a:solidFill>
              </a:rPr>
              <a:t>The step table doesn’t have component through function sub-test filters like the group page, but it does have filters for step number, part name, and test mode</a:t>
            </a:r>
          </a:p>
        </p:txBody>
      </p:sp>
      <p:sp>
        <p:nvSpPr>
          <p:cNvPr id="4" name="TextBox 3">
            <a:extLst>
              <a:ext uri="{FF2B5EF4-FFF2-40B4-BE49-F238E27FC236}">
                <a16:creationId xmlns:a16="http://schemas.microsoft.com/office/drawing/2014/main" id="{C08EF547-30B5-3EED-AB2E-5D5A077E46FD}"/>
              </a:ext>
            </a:extLst>
          </p:cNvPr>
          <p:cNvSpPr txBox="1"/>
          <p:nvPr/>
        </p:nvSpPr>
        <p:spPr>
          <a:xfrm>
            <a:off x="9271635" y="1983462"/>
            <a:ext cx="2606040" cy="553998"/>
          </a:xfrm>
          <a:prstGeom prst="rect">
            <a:avLst/>
          </a:prstGeom>
          <a:noFill/>
        </p:spPr>
        <p:txBody>
          <a:bodyPr wrap="square" rtlCol="0">
            <a:spAutoFit/>
          </a:bodyPr>
          <a:lstStyle/>
          <a:p>
            <a:r>
              <a:rPr lang="en-US" sz="1000" dirty="0">
                <a:solidFill>
                  <a:schemeClr val="accent5">
                    <a:lumMod val="60000"/>
                    <a:lumOff val="40000"/>
                  </a:schemeClr>
                </a:solidFill>
              </a:rPr>
              <a:t>The clear button removes your filters AND resets the table. If the app is acting up, try this, then a refresh if it’s still no good</a:t>
            </a:r>
          </a:p>
        </p:txBody>
      </p:sp>
      <p:cxnSp>
        <p:nvCxnSpPr>
          <p:cNvPr id="7" name="Straight Arrow Connector 6">
            <a:extLst>
              <a:ext uri="{FF2B5EF4-FFF2-40B4-BE49-F238E27FC236}">
                <a16:creationId xmlns:a16="http://schemas.microsoft.com/office/drawing/2014/main" id="{CBFAAC57-F681-E440-14CC-F76157983BA3}"/>
              </a:ext>
            </a:extLst>
          </p:cNvPr>
          <p:cNvCxnSpPr>
            <a:stCxn id="4" idx="2"/>
          </p:cNvCxnSpPr>
          <p:nvPr/>
        </p:nvCxnSpPr>
        <p:spPr>
          <a:xfrm>
            <a:off x="10574655" y="2537460"/>
            <a:ext cx="291465" cy="121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0777DEF-3406-92C0-AFF9-60A49426D644}"/>
              </a:ext>
            </a:extLst>
          </p:cNvPr>
          <p:cNvSpPr txBox="1"/>
          <p:nvPr/>
        </p:nvSpPr>
        <p:spPr>
          <a:xfrm>
            <a:off x="5819775" y="1256685"/>
            <a:ext cx="3772094" cy="400110"/>
          </a:xfrm>
          <a:prstGeom prst="rect">
            <a:avLst/>
          </a:prstGeom>
          <a:noFill/>
        </p:spPr>
        <p:txBody>
          <a:bodyPr wrap="square" rtlCol="0">
            <a:spAutoFit/>
          </a:bodyPr>
          <a:lstStyle/>
          <a:p>
            <a:r>
              <a:rPr lang="en-US" sz="1000" dirty="0">
                <a:solidFill>
                  <a:schemeClr val="accent5">
                    <a:lumMod val="60000"/>
                    <a:lumOff val="40000"/>
                  </a:schemeClr>
                </a:solidFill>
              </a:rPr>
              <a:t>Like the power search page, you can enter a date, time, or both.</a:t>
            </a:r>
          </a:p>
          <a:p>
            <a:r>
              <a:rPr lang="en-US" sz="1000" dirty="0">
                <a:solidFill>
                  <a:schemeClr val="accent5">
                    <a:lumMod val="60000"/>
                    <a:lumOff val="40000"/>
                  </a:schemeClr>
                </a:solidFill>
              </a:rPr>
              <a:t>The </a:t>
            </a:r>
            <a:r>
              <a:rPr lang="en-US" sz="1000" dirty="0">
                <a:solidFill>
                  <a:schemeClr val="accent5">
                    <a:lumMod val="60000"/>
                    <a:lumOff val="40000"/>
                  </a:schemeClr>
                </a:solidFill>
                <a:hlinkClick r:id="rId3" action="ppaction://hlinksldjump"/>
              </a:rPr>
              <a:t>same inference rules</a:t>
            </a:r>
            <a:r>
              <a:rPr lang="en-US" sz="1000" dirty="0">
                <a:solidFill>
                  <a:schemeClr val="accent5">
                    <a:lumMod val="60000"/>
                    <a:lumOff val="40000"/>
                  </a:schemeClr>
                </a:solidFill>
              </a:rPr>
              <a:t> apply</a:t>
            </a:r>
          </a:p>
        </p:txBody>
      </p:sp>
      <p:sp>
        <p:nvSpPr>
          <p:cNvPr id="10" name="TextBox 9">
            <a:extLst>
              <a:ext uri="{FF2B5EF4-FFF2-40B4-BE49-F238E27FC236}">
                <a16:creationId xmlns:a16="http://schemas.microsoft.com/office/drawing/2014/main" id="{C79C2C1B-F9EF-B3C1-FFBD-9D307F689425}"/>
              </a:ext>
            </a:extLst>
          </p:cNvPr>
          <p:cNvSpPr txBox="1"/>
          <p:nvPr/>
        </p:nvSpPr>
        <p:spPr>
          <a:xfrm>
            <a:off x="1962151" y="1410574"/>
            <a:ext cx="2921000" cy="400110"/>
          </a:xfrm>
          <a:prstGeom prst="rect">
            <a:avLst/>
          </a:prstGeom>
          <a:noFill/>
        </p:spPr>
        <p:txBody>
          <a:bodyPr wrap="square" rtlCol="0">
            <a:spAutoFit/>
          </a:bodyPr>
          <a:lstStyle/>
          <a:p>
            <a:r>
              <a:rPr lang="en-US" sz="1000" dirty="0">
                <a:solidFill>
                  <a:schemeClr val="accent5">
                    <a:lumMod val="60000"/>
                    <a:lumOff val="40000"/>
                  </a:schemeClr>
                </a:solidFill>
              </a:rPr>
              <a:t>The tool searches for whether a barcode </a:t>
            </a:r>
            <a:r>
              <a:rPr lang="en-US" sz="1000" b="1" i="1" dirty="0">
                <a:solidFill>
                  <a:schemeClr val="accent5">
                    <a:lumMod val="60000"/>
                    <a:lumOff val="40000"/>
                  </a:schemeClr>
                </a:solidFill>
              </a:rPr>
              <a:t>contains</a:t>
            </a:r>
            <a:r>
              <a:rPr lang="en-US" sz="1000" i="1" dirty="0">
                <a:solidFill>
                  <a:schemeClr val="accent5">
                    <a:lumMod val="60000"/>
                    <a:lumOff val="40000"/>
                  </a:schemeClr>
                </a:solidFill>
              </a:rPr>
              <a:t> </a:t>
            </a:r>
            <a:r>
              <a:rPr lang="en-US" sz="1000" dirty="0">
                <a:solidFill>
                  <a:schemeClr val="accent5">
                    <a:lumMod val="60000"/>
                    <a:lumOff val="40000"/>
                  </a:schemeClr>
                </a:solidFill>
              </a:rPr>
              <a:t>this filter, so you can enter any portion of it here</a:t>
            </a:r>
          </a:p>
        </p:txBody>
      </p:sp>
    </p:spTree>
    <p:extLst>
      <p:ext uri="{BB962C8B-B14F-4D97-AF65-F5344CB8AC3E}">
        <p14:creationId xmlns:p14="http://schemas.microsoft.com/office/powerpoint/2010/main" val="5650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FCT table VQ page</a:t>
            </a:r>
          </a:p>
        </p:txBody>
      </p:sp>
      <p:pic>
        <p:nvPicPr>
          <p:cNvPr id="4" name="Picture 3">
            <a:extLst>
              <a:ext uri="{FF2B5EF4-FFF2-40B4-BE49-F238E27FC236}">
                <a16:creationId xmlns:a16="http://schemas.microsoft.com/office/drawing/2014/main" id="{3DD54A95-E8AC-B4D0-FC6C-C07F347143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348" y="994615"/>
            <a:ext cx="11659304" cy="5863385"/>
          </a:xfrm>
          <a:prstGeom prst="rect">
            <a:avLst/>
          </a:prstGeom>
        </p:spPr>
      </p:pic>
      <p:sp>
        <p:nvSpPr>
          <p:cNvPr id="3" name="TextBox 2">
            <a:extLst>
              <a:ext uri="{FF2B5EF4-FFF2-40B4-BE49-F238E27FC236}">
                <a16:creationId xmlns:a16="http://schemas.microsoft.com/office/drawing/2014/main" id="{14989A2D-777B-052F-307C-2DC5AEBE59CE}"/>
              </a:ext>
            </a:extLst>
          </p:cNvPr>
          <p:cNvSpPr txBox="1"/>
          <p:nvPr/>
        </p:nvSpPr>
        <p:spPr>
          <a:xfrm>
            <a:off x="1600200" y="2522220"/>
            <a:ext cx="7101840" cy="400110"/>
          </a:xfrm>
          <a:prstGeom prst="rect">
            <a:avLst/>
          </a:prstGeom>
          <a:noFill/>
        </p:spPr>
        <p:txBody>
          <a:bodyPr wrap="square" rtlCol="0">
            <a:spAutoFit/>
          </a:bodyPr>
          <a:lstStyle/>
          <a:p>
            <a:r>
              <a:rPr lang="en-US" sz="1000" dirty="0">
                <a:solidFill>
                  <a:schemeClr val="accent5">
                    <a:lumMod val="60000"/>
                    <a:lumOff val="40000"/>
                  </a:schemeClr>
                </a:solidFill>
              </a:rPr>
              <a:t>The FCT page looks a lot like the step page, but without part name. There’s lots of columns for this table, so use the horizontal scrollbar or </a:t>
            </a:r>
            <a:r>
              <a:rPr lang="en-US" sz="1000" dirty="0" err="1">
                <a:solidFill>
                  <a:schemeClr val="accent5">
                    <a:lumMod val="60000"/>
                    <a:lumOff val="40000"/>
                  </a:schemeClr>
                </a:solidFill>
              </a:rPr>
              <a:t>Shift+scroll</a:t>
            </a:r>
            <a:r>
              <a:rPr lang="en-US" sz="1000" dirty="0">
                <a:solidFill>
                  <a:schemeClr val="accent5">
                    <a:lumMod val="60000"/>
                    <a:lumOff val="40000"/>
                  </a:schemeClr>
                </a:solidFill>
              </a:rPr>
              <a:t> while hovering over the table to see them all.</a:t>
            </a:r>
          </a:p>
        </p:txBody>
      </p:sp>
      <p:sp>
        <p:nvSpPr>
          <p:cNvPr id="8" name="TextBox 7">
            <a:extLst>
              <a:ext uri="{FF2B5EF4-FFF2-40B4-BE49-F238E27FC236}">
                <a16:creationId xmlns:a16="http://schemas.microsoft.com/office/drawing/2014/main" id="{26B7DC99-6049-0216-6591-F900D5FDDB98}"/>
              </a:ext>
            </a:extLst>
          </p:cNvPr>
          <p:cNvSpPr txBox="1"/>
          <p:nvPr/>
        </p:nvSpPr>
        <p:spPr>
          <a:xfrm>
            <a:off x="6362470" y="2036802"/>
            <a:ext cx="5402441" cy="246221"/>
          </a:xfrm>
          <a:prstGeom prst="rect">
            <a:avLst/>
          </a:prstGeom>
          <a:noFill/>
        </p:spPr>
        <p:txBody>
          <a:bodyPr wrap="none" rtlCol="0">
            <a:spAutoFit/>
          </a:bodyPr>
          <a:lstStyle/>
          <a:p>
            <a:r>
              <a:rPr lang="en-US" sz="1000" dirty="0">
                <a:solidFill>
                  <a:schemeClr val="accent5">
                    <a:lumMod val="60000"/>
                    <a:lumOff val="40000"/>
                  </a:schemeClr>
                </a:solidFill>
              </a:rPr>
              <a:t>Like the other dropdowns, the test mode filter contains only the entries present in the database</a:t>
            </a:r>
          </a:p>
        </p:txBody>
      </p:sp>
    </p:spTree>
    <p:extLst>
      <p:ext uri="{BB962C8B-B14F-4D97-AF65-F5344CB8AC3E}">
        <p14:creationId xmlns:p14="http://schemas.microsoft.com/office/powerpoint/2010/main" val="32392073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15355</TotalTime>
  <Words>1808</Words>
  <Application>Microsoft Office PowerPoint</Application>
  <PresentationFormat>Widescreen</PresentationFormat>
  <Paragraphs>97</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Calibri</vt:lpstr>
      <vt:lpstr>Courier New</vt:lpstr>
      <vt:lpstr>Wingdings</vt:lpstr>
      <vt:lpstr>Office Theme</vt:lpstr>
      <vt:lpstr>PowerPoint Presentation</vt:lpstr>
      <vt:lpstr>Running the program</vt:lpstr>
      <vt:lpstr>The .bat file</vt:lpstr>
      <vt:lpstr>The .exe file</vt:lpstr>
      <vt:lpstr>Table of Contents</vt:lpstr>
      <vt:lpstr>Splash screen/power search page</vt:lpstr>
      <vt:lpstr>Using the search bar</vt:lpstr>
      <vt:lpstr>Using the table</vt:lpstr>
      <vt:lpstr>Date aliases: substitution</vt:lpstr>
      <vt:lpstr>Date aliases: inclusivity</vt:lpstr>
      <vt:lpstr>Errors: non-fatal</vt:lpstr>
      <vt:lpstr>Errors: fatal</vt:lpstr>
      <vt:lpstr>No results</vt:lpstr>
      <vt:lpstr>Sharing/saving a search</vt:lpstr>
      <vt:lpstr>The visual query builder pages</vt:lpstr>
      <vt:lpstr>Group table VQ page</vt:lpstr>
      <vt:lpstr>Step table VQ page</vt:lpstr>
      <vt:lpstr>FCT table VQ page</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633</cp:revision>
  <dcterms:created xsi:type="dcterms:W3CDTF">2024-08-13T13:38:02Z</dcterms:created>
  <dcterms:modified xsi:type="dcterms:W3CDTF">2026-05-21T13:13:46Z</dcterms:modified>
</cp:coreProperties>
</file>