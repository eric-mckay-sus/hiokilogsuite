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19" r:id="rId3"/>
    <p:sldId id="2807" r:id="rId4"/>
    <p:sldId id="2808" r:id="rId5"/>
    <p:sldId id="2809" r:id="rId6"/>
    <p:sldId id="2813" r:id="rId7"/>
    <p:sldId id="2812" r:id="rId8"/>
    <p:sldId id="2810" r:id="rId9"/>
    <p:sldId id="2811" r:id="rId10"/>
    <p:sldId id="2818" r:id="rId11"/>
    <p:sldId id="2815" r:id="rId12"/>
    <p:sldId id="2816" r:id="rId13"/>
    <p:sldId id="281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58B8E18E-EC36-4AAC-804D-309F2D7BACD2}">
          <p14:sldIdLst>
            <p14:sldId id="256"/>
          </p14:sldIdLst>
        </p14:section>
        <p14:section name="Summary Section" id="{1092B080-68E4-43C4-A6BB-FC3C4BF79DF6}">
          <p14:sldIdLst>
            <p14:sldId id="2819"/>
          </p14:sldIdLst>
        </p14:section>
        <p14:section name="Power search page" id="{7953E210-EE80-43B6-973A-E207864F8870}">
          <p14:sldIdLst>
            <p14:sldId id="2807"/>
            <p14:sldId id="2808"/>
            <p14:sldId id="2809"/>
            <p14:sldId id="2813"/>
            <p14:sldId id="2812"/>
            <p14:sldId id="2810"/>
            <p14:sldId id="2811"/>
          </p14:sldIdLst>
        </p14:section>
        <p14:section name="VQ pages" id="{F1F653EE-3F9C-4EFD-8CE4-892DE2283B17}">
          <p14:sldIdLst>
            <p14:sldId id="2818"/>
          </p14:sldIdLst>
        </p14:section>
        <p14:section name="Group table VQ page" id="{6CE7CD9C-2386-4479-8C34-F19D2C833D3C}">
          <p14:sldIdLst>
            <p14:sldId id="2815"/>
          </p14:sldIdLst>
        </p14:section>
        <p14:section name="Step table VQ page" id="{E059FA79-F2B9-477F-B036-1CA427A041EF}">
          <p14:sldIdLst>
            <p14:sldId id="2816"/>
          </p14:sldIdLst>
        </p14:section>
        <p14:section name="FCT table VQ page" id="{B3499BAD-9CFD-4299-BDA4-8843225530E5}">
          <p14:sldIdLst>
            <p14:sldId id="28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26322"/>
    <a:srgbClr val="BF2115"/>
    <a:srgbClr val="8C14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>
        <p:scale>
          <a:sx n="125" d="100"/>
          <a:sy n="125" d="100"/>
        </p:scale>
        <p:origin x="114" y="-4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0DC49-5E56-4663-BD73-6254BEC8D95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CF8D7-B076-43C3-BFB0-F1A9323A5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09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E8C5-5A19-1B96-306F-6AF482807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7C461-4C20-8869-871E-B5400B8B6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B8A82-4B3C-32AF-60E6-F823D073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6F5A-3024-43F4-A20E-288FCAB0A2E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5C46B-E48E-DF20-B602-DE88FB206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5743-8524-0603-1138-452F41FC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0818-09BC-4CB6-A333-E22D8F286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7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6E11-5F87-4491-6D5C-528520CB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57C95-6675-FF55-36AE-5EEA42313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47A78-ED9B-C900-C4FD-30005FE2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6F5A-3024-43F4-A20E-288FCAB0A2E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6315F-B814-DC5F-E961-BDECA1CD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96B70-B5B5-D316-E181-C9CD968F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0818-09BC-4CB6-A333-E22D8F286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5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1592D-531C-BD44-A180-1BE6F1D42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B949A-9177-A81A-184B-60B55571C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CA427-B909-832B-C2C0-C58F094E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6F5A-3024-43F4-A20E-288FCAB0A2E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ADC22-5746-E4D2-084B-217209051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A3203-E1C1-83C0-A787-4E04DD261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0818-09BC-4CB6-A333-E22D8F286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02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29DE8-3598-89F6-89E0-A4AB4A0E2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3242" y="225156"/>
            <a:ext cx="7007289" cy="6799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B4742-6A63-D0FF-168E-45D01BDC4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249" y="933061"/>
            <a:ext cx="5187820" cy="524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6B563-378E-3C17-C501-1A3FD85C9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3249" y="933061"/>
            <a:ext cx="6040016" cy="524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7F973-CB61-47FC-CA63-982F96A5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6F5A-3024-43F4-A20E-288FCAB0A2E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760D3-C39F-4961-3DC7-3CCD27F0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141F6-A0BF-1909-79DC-940586CFA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0818-09BC-4CB6-A333-E22D8F286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0835-AF5A-3D95-BDDE-D26D8AE4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834" y="215838"/>
            <a:ext cx="8780106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9718-38B4-3C4B-257A-4DE3C7AD9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258" y="813416"/>
            <a:ext cx="5736318" cy="502200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18D50-72EA-330C-8E10-361E0DAFE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1258" y="1315615"/>
            <a:ext cx="5736318" cy="48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128F8-B2FF-B714-D95F-8781E76D4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813416"/>
            <a:ext cx="5612363" cy="502200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73D32-9F8F-7514-7E26-AF0D8754C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6" y="1315614"/>
            <a:ext cx="5612363" cy="48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9DA126-B99B-A1CF-ABCC-AFAB89F3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6F5A-3024-43F4-A20E-288FCAB0A2E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2FC3B-F495-1301-4445-3ABC36D91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060DA4-40D9-55F9-56FE-D5D821C4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0818-09BC-4CB6-A333-E22D8F286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FFF8-AD45-9480-41DC-551DBE82D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F5916-BF3C-CC0D-309B-70371AA2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6F5A-3024-43F4-A20E-288FCAB0A2E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996AB-E27F-CDD2-51BD-9F075E5CB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F9E74-68F7-DBF7-BF1E-DEAE8CC0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0818-09BC-4CB6-A333-E22D8F286151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A1A8039-3853-1B57-CEC2-9744CD5727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975" y="988743"/>
            <a:ext cx="2695772" cy="2142773"/>
          </a:xfrm>
          <a:custGeom>
            <a:avLst/>
            <a:gdLst>
              <a:gd name="connsiteX0" fmla="*/ 535694 w 2695772"/>
              <a:gd name="connsiteY0" fmla="*/ 0 h 2142773"/>
              <a:gd name="connsiteX1" fmla="*/ 2160080 w 2695772"/>
              <a:gd name="connsiteY1" fmla="*/ 0 h 2142773"/>
              <a:gd name="connsiteX2" fmla="*/ 2695772 w 2695772"/>
              <a:gd name="connsiteY2" fmla="*/ 1071386 h 2142773"/>
              <a:gd name="connsiteX3" fmla="*/ 2160079 w 2695772"/>
              <a:gd name="connsiteY3" fmla="*/ 2142773 h 2142773"/>
              <a:gd name="connsiteX4" fmla="*/ 535694 w 2695772"/>
              <a:gd name="connsiteY4" fmla="*/ 2142773 h 2142773"/>
              <a:gd name="connsiteX5" fmla="*/ 0 w 2695772"/>
              <a:gd name="connsiteY5" fmla="*/ 1071386 h 2142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95772" h="2142773">
                <a:moveTo>
                  <a:pt x="535694" y="0"/>
                </a:moveTo>
                <a:lnTo>
                  <a:pt x="2160080" y="0"/>
                </a:lnTo>
                <a:lnTo>
                  <a:pt x="2695772" y="1071386"/>
                </a:lnTo>
                <a:lnTo>
                  <a:pt x="2160079" y="2142773"/>
                </a:lnTo>
                <a:lnTo>
                  <a:pt x="535694" y="2142773"/>
                </a:lnTo>
                <a:lnTo>
                  <a:pt x="0" y="10713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70CC3A-52A8-9373-EB87-CCECF48BF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08710" y="911379"/>
            <a:ext cx="5048315" cy="52934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27E389A-46CB-1C2E-6356-93E609ADA8C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696096" y="2153439"/>
            <a:ext cx="2695772" cy="2142773"/>
          </a:xfrm>
          <a:custGeom>
            <a:avLst/>
            <a:gdLst>
              <a:gd name="connsiteX0" fmla="*/ 535694 w 2695772"/>
              <a:gd name="connsiteY0" fmla="*/ 0 h 2142773"/>
              <a:gd name="connsiteX1" fmla="*/ 2160080 w 2695772"/>
              <a:gd name="connsiteY1" fmla="*/ 0 h 2142773"/>
              <a:gd name="connsiteX2" fmla="*/ 2695772 w 2695772"/>
              <a:gd name="connsiteY2" fmla="*/ 1071386 h 2142773"/>
              <a:gd name="connsiteX3" fmla="*/ 2160079 w 2695772"/>
              <a:gd name="connsiteY3" fmla="*/ 2142773 h 2142773"/>
              <a:gd name="connsiteX4" fmla="*/ 535694 w 2695772"/>
              <a:gd name="connsiteY4" fmla="*/ 2142773 h 2142773"/>
              <a:gd name="connsiteX5" fmla="*/ 0 w 2695772"/>
              <a:gd name="connsiteY5" fmla="*/ 1071386 h 2142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95772" h="2142773">
                <a:moveTo>
                  <a:pt x="535694" y="0"/>
                </a:moveTo>
                <a:lnTo>
                  <a:pt x="2160080" y="0"/>
                </a:lnTo>
                <a:lnTo>
                  <a:pt x="2695772" y="1071386"/>
                </a:lnTo>
                <a:lnTo>
                  <a:pt x="2160079" y="2142773"/>
                </a:lnTo>
                <a:lnTo>
                  <a:pt x="535694" y="2142773"/>
                </a:lnTo>
                <a:lnTo>
                  <a:pt x="0" y="10713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76D0469-9CB9-705F-ADF6-9365FC788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8320" y="3261556"/>
            <a:ext cx="2695772" cy="2142773"/>
          </a:xfrm>
          <a:custGeom>
            <a:avLst/>
            <a:gdLst>
              <a:gd name="connsiteX0" fmla="*/ 535694 w 2695772"/>
              <a:gd name="connsiteY0" fmla="*/ 0 h 2142773"/>
              <a:gd name="connsiteX1" fmla="*/ 2160080 w 2695772"/>
              <a:gd name="connsiteY1" fmla="*/ 0 h 2142773"/>
              <a:gd name="connsiteX2" fmla="*/ 2695772 w 2695772"/>
              <a:gd name="connsiteY2" fmla="*/ 1071386 h 2142773"/>
              <a:gd name="connsiteX3" fmla="*/ 2160079 w 2695772"/>
              <a:gd name="connsiteY3" fmla="*/ 2142773 h 2142773"/>
              <a:gd name="connsiteX4" fmla="*/ 535694 w 2695772"/>
              <a:gd name="connsiteY4" fmla="*/ 2142773 h 2142773"/>
              <a:gd name="connsiteX5" fmla="*/ 0 w 2695772"/>
              <a:gd name="connsiteY5" fmla="*/ 1071386 h 2142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95772" h="2142773">
                <a:moveTo>
                  <a:pt x="535694" y="0"/>
                </a:moveTo>
                <a:lnTo>
                  <a:pt x="2160080" y="0"/>
                </a:lnTo>
                <a:lnTo>
                  <a:pt x="2695772" y="1071386"/>
                </a:lnTo>
                <a:lnTo>
                  <a:pt x="2160079" y="2142773"/>
                </a:lnTo>
                <a:lnTo>
                  <a:pt x="535694" y="2142773"/>
                </a:lnTo>
                <a:lnTo>
                  <a:pt x="0" y="10713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850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5D8B-754D-04A1-62D4-E00DE7566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9CD3E-2ED7-A31B-42BA-2BF3DE204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18C08-8E1C-0D34-394D-FAB4F50BF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58DDE-6A55-5071-14AB-45BAFFC2B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6F5A-3024-43F4-A20E-288FCAB0A2E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3DBAC-025A-E3A5-0160-13A49176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EB1-24D7-2ED0-FF10-A1714398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0818-09BC-4CB6-A333-E22D8F286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56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D3064-AD0E-44B8-A1FD-C9C8294B3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580" y="225156"/>
            <a:ext cx="7007289" cy="6799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20840-FF82-AFD6-0E92-5191E0F41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798" y="1063690"/>
            <a:ext cx="11775386" cy="5236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20262-5C22-1B22-F590-B21510489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A6F5A-3024-43F4-A20E-288FCAB0A2E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30A65-5A1D-597B-31D3-E9ADC4F97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7051A-5A19-BFB8-4804-DAF4136C4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BA0818-09BC-4CB6-A333-E22D8F28615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D217C2-53E7-CA69-B787-B849C2D7649B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70439" y="178333"/>
            <a:ext cx="1819615" cy="7310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F4A335-5B64-1815-BD75-26B3B05EC4F6}"/>
              </a:ext>
            </a:extLst>
          </p:cNvPr>
          <p:cNvCxnSpPr/>
          <p:nvPr userDrawn="1"/>
        </p:nvCxnSpPr>
        <p:spPr>
          <a:xfrm>
            <a:off x="2192694" y="853443"/>
            <a:ext cx="96851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580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4.png"/><Relationship Id="rId7" Type="http://schemas.openxmlformats.org/officeDocument/2006/relationships/slide" Target="slide1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" Target="slide11.xml"/><Relationship Id="rId7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image" Target="../media/image17.png"/><Relationship Id="rId10" Type="http://schemas.openxmlformats.org/officeDocument/2006/relationships/image" Target="../media/image18.png"/><Relationship Id="rId4" Type="http://schemas.openxmlformats.org/officeDocument/2006/relationships/image" Target="../media/image160.png"/><Relationship Id="rId9" Type="http://schemas.openxmlformats.org/officeDocument/2006/relationships/slide" Target="slide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0" y="4837094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rgbClr val="1024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Hioki</a:t>
            </a:r>
            <a:r>
              <a:rPr lang="en-US" sz="2800" b="1" dirty="0">
                <a:solidFill>
                  <a:srgbClr val="1024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ICT Database search application</a:t>
            </a:r>
          </a:p>
          <a:p>
            <a:pPr algn="ctr"/>
            <a:r>
              <a:rPr lang="en-US" sz="2800" b="1" dirty="0">
                <a:solidFill>
                  <a:srgbClr val="1024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(2026.02.26)</a:t>
            </a:r>
          </a:p>
        </p:txBody>
      </p:sp>
    </p:spTree>
    <p:extLst>
      <p:ext uri="{BB962C8B-B14F-4D97-AF65-F5344CB8AC3E}">
        <p14:creationId xmlns:p14="http://schemas.microsoft.com/office/powerpoint/2010/main" val="1626821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30D7-9C55-DA1B-623A-3BBF3A5A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of Contents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Summary Zoom 4">
                <a:extLst>
                  <a:ext uri="{FF2B5EF4-FFF2-40B4-BE49-F238E27FC236}">
                    <a16:creationId xmlns:a16="http://schemas.microsoft.com/office/drawing/2014/main" id="{943BD2CD-4F69-A6F6-639A-F0351A2330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81731825"/>
                  </p:ext>
                </p:extLst>
              </p:nvPr>
            </p:nvGraphicFramePr>
            <p:xfrm>
              <a:off x="168275" y="1063625"/>
              <a:ext cx="11774488" cy="5237163"/>
            </p:xfrm>
            <a:graphic>
              <a:graphicData uri="http://schemas.microsoft.com/office/powerpoint/2016/summaryzoom">
                <psuz:summaryZm>
                  <psuz:summaryZmObj sectionId="{7953E210-EE80-43B6-973A-E207864F8870}">
                    <psuz:zmPr id="{E98C7149-FC14-4FAF-B3AA-6D1EDFF7FADB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618956" y="183301"/>
                          <a:ext cx="4189730" cy="235672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CE7CD9C-2386-4479-8C34-F19D2C833D3C}">
                    <psuz:zmPr id="{D0F45D07-C124-4D11-B03C-8893A9020986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965801" y="183301"/>
                          <a:ext cx="4189730" cy="235672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059FA79-F2B9-477F-B036-1CA427A041EF}">
                    <psuz:zmPr id="{5CE593DE-D40B-447A-AD6D-5F32672A8373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618956" y="2697139"/>
                          <a:ext cx="4189730" cy="235672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B3499BAD-9CFD-4299-BDA4-8843225530E5}">
                    <psuz:zmPr id="{0EAAD114-5700-427E-8753-9FEFF84B55F4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965801" y="2697139"/>
                          <a:ext cx="4189730" cy="235672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Summary Zoom 4">
                <a:extLst>
                  <a:ext uri="{FF2B5EF4-FFF2-40B4-BE49-F238E27FC236}">
                    <a16:creationId xmlns:a16="http://schemas.microsoft.com/office/drawing/2014/main" id="{943BD2CD-4F69-A6F6-639A-F0351A23304C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68275" y="1063625"/>
                <a:ext cx="11774488" cy="5237163"/>
                <a:chOff x="168275" y="1063625"/>
                <a:chExt cx="11774488" cy="5237163"/>
              </a:xfrm>
            </p:grpSpPr>
            <p:pic>
              <p:nvPicPr>
                <p:cNvPr id="3" name="Picture 3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787231" y="1246926"/>
                  <a:ext cx="4189730" cy="235672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Picture 4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34076" y="1246926"/>
                  <a:ext cx="4189730" cy="235672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Picture 6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87231" y="3760764"/>
                  <a:ext cx="4189730" cy="235672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Picture 7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34076" y="3760764"/>
                  <a:ext cx="4189730" cy="235672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2197003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213584-1F50-FCD4-1435-30D4AEFE19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309"/>
          <a:stretch>
            <a:fillRect/>
          </a:stretch>
        </p:blipFill>
        <p:spPr>
          <a:xfrm>
            <a:off x="222885" y="905060"/>
            <a:ext cx="11710035" cy="57597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508E0A-92CC-03AA-E9FC-0AE175DD5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3242" y="225156"/>
            <a:ext cx="7007289" cy="679904"/>
          </a:xfrm>
        </p:spPr>
        <p:txBody>
          <a:bodyPr anchor="t">
            <a:normAutofit fontScale="90000"/>
          </a:bodyPr>
          <a:lstStyle/>
          <a:p>
            <a:r>
              <a:rPr lang="en-US" sz="4100" dirty="0"/>
              <a:t>Splash screen/power search page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63BECF-C7C5-83D1-B0FC-B1F864230466}"/>
              </a:ext>
            </a:extLst>
          </p:cNvPr>
          <p:cNvSpPr txBox="1"/>
          <p:nvPr/>
        </p:nvSpPr>
        <p:spPr>
          <a:xfrm>
            <a:off x="2266950" y="2656662"/>
            <a:ext cx="4171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Hover to see which tables they work 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543D99-54F6-0913-40C2-034E0784A6B8}"/>
              </a:ext>
            </a:extLst>
          </p:cNvPr>
          <p:cNvSpPr txBox="1"/>
          <p:nvPr/>
        </p:nvSpPr>
        <p:spPr>
          <a:xfrm>
            <a:off x="4659314" y="2074416"/>
            <a:ext cx="1649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Hover to see what they do, click to add to your search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522163E-F8BE-62B1-8092-5F833E15F90A}"/>
              </a:ext>
            </a:extLst>
          </p:cNvPr>
          <p:cNvCxnSpPr/>
          <p:nvPr/>
        </p:nvCxnSpPr>
        <p:spPr>
          <a:xfrm flipH="1">
            <a:off x="4400550" y="2181612"/>
            <a:ext cx="3143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D2E5DD0-D410-4705-ECEC-2855E25949F9}"/>
              </a:ext>
            </a:extLst>
          </p:cNvPr>
          <p:cNvCxnSpPr>
            <a:cxnSpLocks/>
          </p:cNvCxnSpPr>
          <p:nvPr/>
        </p:nvCxnSpPr>
        <p:spPr>
          <a:xfrm flipH="1">
            <a:off x="3929063" y="2379663"/>
            <a:ext cx="7858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87AE05E-FE75-8DF2-A2F8-A891F7814B3E}"/>
              </a:ext>
            </a:extLst>
          </p:cNvPr>
          <p:cNvSpPr txBox="1"/>
          <p:nvPr/>
        </p:nvSpPr>
        <p:spPr>
          <a:xfrm>
            <a:off x="3157537" y="1646059"/>
            <a:ext cx="35099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Click to quickly switch tables (for supported searches)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ABF5B82-FD5B-36EE-196C-636A6344321A}"/>
              </a:ext>
            </a:extLst>
          </p:cNvPr>
          <p:cNvCxnSpPr>
            <a:stCxn id="28" idx="1"/>
          </p:cNvCxnSpPr>
          <p:nvPr/>
        </p:nvCxnSpPr>
        <p:spPr>
          <a:xfrm flipH="1">
            <a:off x="3009900" y="1769170"/>
            <a:ext cx="147637" cy="3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9BA3C0F-6709-F8EE-5313-3A36EBA822C1}"/>
              </a:ext>
            </a:extLst>
          </p:cNvPr>
          <p:cNvSpPr/>
          <p:nvPr/>
        </p:nvSpPr>
        <p:spPr>
          <a:xfrm>
            <a:off x="300038" y="1343025"/>
            <a:ext cx="1002506" cy="1330555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DDC293-2183-E404-A471-B4F3BB7228F6}"/>
              </a:ext>
            </a:extLst>
          </p:cNvPr>
          <p:cNvSpPr txBox="1"/>
          <p:nvPr/>
        </p:nvSpPr>
        <p:spPr>
          <a:xfrm>
            <a:off x="1382713" y="2860790"/>
            <a:ext cx="129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Click to navigate between pages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9DD986E-ACA2-1337-774D-D0AF1A6152BA}"/>
              </a:ext>
            </a:extLst>
          </p:cNvPr>
          <p:cNvCxnSpPr>
            <a:cxnSpLocks/>
            <a:stCxn id="32" idx="1"/>
            <a:endCxn id="31" idx="2"/>
          </p:cNvCxnSpPr>
          <p:nvPr/>
        </p:nvCxnSpPr>
        <p:spPr>
          <a:xfrm rot="10800000">
            <a:off x="801291" y="2673581"/>
            <a:ext cx="581422" cy="3872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C1475E-425B-D69B-7286-A663153D37EA}"/>
              </a:ext>
            </a:extLst>
          </p:cNvPr>
          <p:cNvSpPr txBox="1"/>
          <p:nvPr/>
        </p:nvSpPr>
        <p:spPr>
          <a:xfrm>
            <a:off x="3940695" y="4285153"/>
            <a:ext cx="5453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Result table appears here after you’ve searched once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54280-A57A-75F6-51CA-CE9CBA16EB86}"/>
              </a:ext>
            </a:extLst>
          </p:cNvPr>
          <p:cNvSpPr txBox="1"/>
          <p:nvPr/>
        </p:nvSpPr>
        <p:spPr>
          <a:xfrm>
            <a:off x="11399530" y="2439799"/>
            <a:ext cx="492443" cy="346986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When searching all, two scroll bars appear.</a:t>
            </a:r>
          </a:p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left one controls the table, the right one controls the page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902429-7619-882E-5D35-CE1ADB6B2957}"/>
              </a:ext>
            </a:extLst>
          </p:cNvPr>
          <p:cNvSpPr txBox="1"/>
          <p:nvPr/>
        </p:nvSpPr>
        <p:spPr>
          <a:xfrm>
            <a:off x="2974159" y="1856444"/>
            <a:ext cx="59394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This is a live preview of your search. It’s the most helpful tool for finding out where something went wrong</a:t>
            </a:r>
          </a:p>
        </p:txBody>
      </p:sp>
    </p:spTree>
    <p:extLst>
      <p:ext uri="{BB962C8B-B14F-4D97-AF65-F5344CB8AC3E}">
        <p14:creationId xmlns:p14="http://schemas.microsoft.com/office/powerpoint/2010/main" val="195216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4ADD1-DBFD-D4FC-AC04-0D5A4ACA0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534C-EF61-6C76-F758-B183185B4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the search bar</a:t>
            </a:r>
          </a:p>
        </p:txBody>
      </p:sp>
      <p:pic>
        <p:nvPicPr>
          <p:cNvPr id="37" name="Content Placeholder 7">
            <a:extLst>
              <a:ext uri="{FF2B5EF4-FFF2-40B4-BE49-F238E27FC236}">
                <a16:creationId xmlns:a16="http://schemas.microsoft.com/office/drawing/2014/main" id="{A222A5A0-B696-E2BD-A6DF-9AD688F85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54" y="905060"/>
            <a:ext cx="11525863" cy="57750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879685-DF77-5C41-3629-A1F65747A232}"/>
              </a:ext>
            </a:extLst>
          </p:cNvPr>
          <p:cNvSpPr txBox="1"/>
          <p:nvPr/>
        </p:nvSpPr>
        <p:spPr>
          <a:xfrm>
            <a:off x="5276850" y="2047875"/>
            <a:ext cx="31598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As you type,  filters will populate based on your ‘in’ tag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102868-4770-9A76-6440-5B8A06B7BA90}"/>
              </a:ext>
            </a:extLst>
          </p:cNvPr>
          <p:cNvSpPr txBox="1"/>
          <p:nvPr/>
        </p:nvSpPr>
        <p:spPr>
          <a:xfrm>
            <a:off x="5972175" y="1714500"/>
            <a:ext cx="31021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This is what the tool thinks you said. It is always right.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37885A-1A10-5FD0-3C18-770BE41549B8}"/>
              </a:ext>
            </a:extLst>
          </p:cNvPr>
          <p:cNvSpPr txBox="1"/>
          <p:nvPr/>
        </p:nvSpPr>
        <p:spPr>
          <a:xfrm>
            <a:off x="4790177" y="943038"/>
            <a:ext cx="5450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Use space-separated </a:t>
            </a:r>
            <a:r>
              <a:rPr lang="en-US" sz="10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key:value</a:t>
            </a:r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syntax. Put a hyphen at the start of any key to filter out the value.</a:t>
            </a:r>
          </a:p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Wrap a value in quotes if you wish to include a space or colon (including times) inside the value.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ACE5C2-B2C8-DFA2-9B75-2049781F7BDE}"/>
              </a:ext>
            </a:extLst>
          </p:cNvPr>
          <p:cNvSpPr txBox="1"/>
          <p:nvPr/>
        </p:nvSpPr>
        <p:spPr>
          <a:xfrm>
            <a:off x="6349682" y="2406008"/>
            <a:ext cx="17427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Gray</a:t>
            </a:r>
            <a:r>
              <a:rPr lang="en-US" sz="1000" dirty="0"/>
              <a:t>: filter is not in search</a:t>
            </a:r>
          </a:p>
          <a:p>
            <a:r>
              <a:rPr lang="en-US" sz="1000" dirty="0">
                <a:solidFill>
                  <a:srgbClr val="0070C0"/>
                </a:solidFill>
              </a:rPr>
              <a:t>Blue</a:t>
            </a:r>
            <a:r>
              <a:rPr lang="en-US" sz="1000" dirty="0"/>
              <a:t>: filter is in search</a:t>
            </a:r>
          </a:p>
          <a:p>
            <a:r>
              <a:rPr lang="en-US" sz="1000" dirty="0">
                <a:solidFill>
                  <a:srgbClr val="FF0000"/>
                </a:solidFill>
              </a:rPr>
              <a:t>Red</a:t>
            </a:r>
            <a:r>
              <a:rPr lang="en-US" sz="1000" dirty="0"/>
              <a:t>: negative filter in search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E31F97-DA69-4F63-B0F6-65187F0AC892}"/>
              </a:ext>
            </a:extLst>
          </p:cNvPr>
          <p:cNvSpPr txBox="1"/>
          <p:nvPr/>
        </p:nvSpPr>
        <p:spPr>
          <a:xfrm>
            <a:off x="4965660" y="3102697"/>
            <a:ext cx="4108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Table becomes faded if you haven’t pressed enter for this search yet to remind you that it’s waiting. You can’t interact with the table like this.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A60E4-CE8E-B5FB-831C-7939396BB75E}"/>
              </a:ext>
            </a:extLst>
          </p:cNvPr>
          <p:cNvSpPr txBox="1"/>
          <p:nvPr/>
        </p:nvSpPr>
        <p:spPr>
          <a:xfrm>
            <a:off x="9736671" y="1793875"/>
            <a:ext cx="2111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With these settings, the date range is from the start of 2</a:t>
            </a:r>
            <a:r>
              <a:rPr lang="en-US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nd</a:t>
            </a:r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shift on 2/19 to 11:23 on 2/26 (see preview)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59BA4B-BC38-CBF2-CD5B-0ABFDEC58423}"/>
              </a:ext>
            </a:extLst>
          </p:cNvPr>
          <p:cNvSpPr txBox="1"/>
          <p:nvPr/>
        </p:nvSpPr>
        <p:spPr>
          <a:xfrm>
            <a:off x="7882767" y="2435027"/>
            <a:ext cx="1273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These do not apply for date aliases</a:t>
            </a:r>
          </a:p>
        </p:txBody>
      </p:sp>
    </p:spTree>
    <p:extLst>
      <p:ext uri="{BB962C8B-B14F-4D97-AF65-F5344CB8AC3E}">
        <p14:creationId xmlns:p14="http://schemas.microsoft.com/office/powerpoint/2010/main" val="1703292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67857-5705-5233-8621-600012F8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F45F-3A8D-00CD-7E8B-3230BFA26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the table</a:t>
            </a:r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ED7BFB05-0BFA-AB99-C237-E4423C4F5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53" y="905060"/>
            <a:ext cx="11471565" cy="57750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538370-39D1-6D79-381E-31E581284C33}"/>
              </a:ext>
            </a:extLst>
          </p:cNvPr>
          <p:cNvSpPr txBox="1"/>
          <p:nvPr/>
        </p:nvSpPr>
        <p:spPr>
          <a:xfrm>
            <a:off x="1536700" y="2940050"/>
            <a:ext cx="1327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results you’re seeing now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2EE8DE-09C4-18FA-EF73-579B5935A4D6}"/>
              </a:ext>
            </a:extLst>
          </p:cNvPr>
          <p:cNvSpPr txBox="1"/>
          <p:nvPr/>
        </p:nvSpPr>
        <p:spPr>
          <a:xfrm>
            <a:off x="2670175" y="3041650"/>
            <a:ext cx="116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Results per 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3680A6-B564-4959-F038-95EB095A6C64}"/>
              </a:ext>
            </a:extLst>
          </p:cNvPr>
          <p:cNvSpPr txBox="1"/>
          <p:nvPr/>
        </p:nvSpPr>
        <p:spPr>
          <a:xfrm>
            <a:off x="4337050" y="3093939"/>
            <a:ext cx="2603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Save the entire search’s results to a CSV file</a:t>
            </a:r>
          </a:p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(check your browser’s download settings)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69AFC8-B683-D7F5-6B60-50E3D3FED37A}"/>
              </a:ext>
            </a:extLst>
          </p:cNvPr>
          <p:cNvSpPr txBox="1"/>
          <p:nvPr/>
        </p:nvSpPr>
        <p:spPr>
          <a:xfrm>
            <a:off x="9286826" y="3041650"/>
            <a:ext cx="1470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Jump to a specific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E4AE1-B797-5E42-B959-804F7D2205F5}"/>
              </a:ext>
            </a:extLst>
          </p:cNvPr>
          <p:cNvSpPr txBox="1"/>
          <p:nvPr/>
        </p:nvSpPr>
        <p:spPr>
          <a:xfrm>
            <a:off x="6415573" y="3862455"/>
            <a:ext cx="2426753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Click any column header to cycle through sort directions for that attribute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7C43B-A368-4A86-78C1-D9B765D1A218}"/>
              </a:ext>
            </a:extLst>
          </p:cNvPr>
          <p:cNvSpPr txBox="1"/>
          <p:nvPr/>
        </p:nvSpPr>
        <p:spPr>
          <a:xfrm>
            <a:off x="11646241" y="3665439"/>
            <a:ext cx="338554" cy="237180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Use this smaller scroll bar if you have two</a:t>
            </a:r>
          </a:p>
        </p:txBody>
      </p:sp>
    </p:spTree>
    <p:extLst>
      <p:ext uri="{BB962C8B-B14F-4D97-AF65-F5344CB8AC3E}">
        <p14:creationId xmlns:p14="http://schemas.microsoft.com/office/powerpoint/2010/main" val="124657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C5437-B032-46BE-8C6E-92FB7ED1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8448-01BA-59FB-D8F3-BAA926C1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Date aliases: substitution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82E23-9579-5F7E-3A16-B1E8FAD1A983}"/>
              </a:ext>
            </a:extLst>
          </p:cNvPr>
          <p:cNvSpPr txBox="1"/>
          <p:nvPr/>
        </p:nvSpPr>
        <p:spPr>
          <a:xfrm>
            <a:off x="2423054" y="961826"/>
            <a:ext cx="7330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Executing the search will substitute date aliases with their actual values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D8616F-AD1A-557E-1906-EAB15FC574B9}"/>
              </a:ext>
            </a:extLst>
          </p:cNvPr>
          <p:cNvSpPr txBox="1"/>
          <p:nvPr/>
        </p:nvSpPr>
        <p:spPr>
          <a:xfrm>
            <a:off x="2075747" y="3553241"/>
            <a:ext cx="802495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If you use a shift alias without a date, the app infers that you meant the most recent time that shift ran (including the current shift)</a:t>
            </a:r>
          </a:p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If you use a time without a date, the app infers you meant today at that time. This MUST be in quotes, otherwise the tool cannot read it properly.</a:t>
            </a:r>
          </a:p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If you use a date or date alias without a time, the app infers that you meant that day, at midnight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A24205-E27A-3A00-818A-3DCB5A8CF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1158"/>
            <a:ext cx="12192000" cy="21252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117802-F104-B64A-B97C-F9B635C9B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04047"/>
            <a:ext cx="12192000" cy="21736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12287C-B1B2-1700-3016-FFBDF74B2F52}"/>
              </a:ext>
            </a:extLst>
          </p:cNvPr>
          <p:cNvSpPr txBox="1"/>
          <p:nvPr/>
        </p:nvSpPr>
        <p:spPr>
          <a:xfrm>
            <a:off x="2935605" y="2933213"/>
            <a:ext cx="83375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When you click an alias, it’s added to the search. If you have a key waiting for a value, only the alias is appended, otherwise it appends “after: &lt;alias&gt;”</a:t>
            </a:r>
          </a:p>
        </p:txBody>
      </p:sp>
    </p:spTree>
    <p:extLst>
      <p:ext uri="{BB962C8B-B14F-4D97-AF65-F5344CB8AC3E}">
        <p14:creationId xmlns:p14="http://schemas.microsoft.com/office/powerpoint/2010/main" val="133121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966AC-DF68-1371-1B89-51E8378E5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73A6-6A21-2356-F7BC-C395C432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Date aliases: inclusivity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E075A-4965-96E4-2F70-5771AC5EB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76" y="1420864"/>
            <a:ext cx="12192000" cy="21265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C4CC66-7000-3460-3A20-F9B7517F0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76" y="4063180"/>
            <a:ext cx="12192000" cy="2112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25A5EC-BC50-2870-EDE3-BE96FDCFF86E}"/>
              </a:ext>
            </a:extLst>
          </p:cNvPr>
          <p:cNvSpPr txBox="1"/>
          <p:nvPr/>
        </p:nvSpPr>
        <p:spPr>
          <a:xfrm>
            <a:off x="3367592" y="903340"/>
            <a:ext cx="5456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These searches are identical except for the inclusivity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62BBA9-D8B4-4598-5704-1C3089FFE12A}"/>
              </a:ext>
            </a:extLst>
          </p:cNvPr>
          <p:cNvCxnSpPr>
            <a:stCxn id="7" idx="3"/>
          </p:cNvCxnSpPr>
          <p:nvPr/>
        </p:nvCxnSpPr>
        <p:spPr>
          <a:xfrm>
            <a:off x="8824407" y="1088006"/>
            <a:ext cx="1797873" cy="1152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D271E4-A0CA-C590-08FC-F3953DACA122}"/>
              </a:ext>
            </a:extLst>
          </p:cNvPr>
          <p:cNvCxnSpPr>
            <a:stCxn id="7" idx="3"/>
          </p:cNvCxnSpPr>
          <p:nvPr/>
        </p:nvCxnSpPr>
        <p:spPr>
          <a:xfrm>
            <a:off x="8824407" y="1088006"/>
            <a:ext cx="2399853" cy="3826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9BD6AFD-DD81-7F06-2D23-D8A903F28F6F}"/>
              </a:ext>
            </a:extLst>
          </p:cNvPr>
          <p:cNvSpPr txBox="1"/>
          <p:nvPr/>
        </p:nvSpPr>
        <p:spPr>
          <a:xfrm>
            <a:off x="4991100" y="2484120"/>
            <a:ext cx="3154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This gathers all the entries between the time 2</a:t>
            </a:r>
            <a:r>
              <a:rPr lang="en-US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nd</a:t>
            </a:r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shift started yesterday and the time 1</a:t>
            </a:r>
            <a:r>
              <a:rPr lang="en-US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shift will end today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311667-E1E8-67B8-7987-8F01722295D0}"/>
              </a:ext>
            </a:extLst>
          </p:cNvPr>
          <p:cNvSpPr txBox="1"/>
          <p:nvPr/>
        </p:nvSpPr>
        <p:spPr>
          <a:xfrm>
            <a:off x="4853940" y="5119347"/>
            <a:ext cx="3154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This gathers all the entries between the time 2</a:t>
            </a:r>
            <a:r>
              <a:rPr lang="en-US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nd</a:t>
            </a:r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shift ended yesterday and the time 1</a:t>
            </a:r>
            <a:r>
              <a:rPr lang="en-US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shift started today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54E10-1A7B-B20C-55E5-1E2D53AA0F2C}"/>
              </a:ext>
            </a:extLst>
          </p:cNvPr>
          <p:cNvSpPr txBox="1"/>
          <p:nvPr/>
        </p:nvSpPr>
        <p:spPr>
          <a:xfrm>
            <a:off x="5935980" y="2903426"/>
            <a:ext cx="3154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Searching before the current shift with inclusive mode enabled is the only time the tool will search the future</a:t>
            </a:r>
          </a:p>
        </p:txBody>
      </p:sp>
    </p:spTree>
    <p:extLst>
      <p:ext uri="{BB962C8B-B14F-4D97-AF65-F5344CB8AC3E}">
        <p14:creationId xmlns:p14="http://schemas.microsoft.com/office/powerpoint/2010/main" val="424832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A2C12-BC6F-E862-6846-3FB131E3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8098F3C-EE5C-2069-B200-DFB8C5B7F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53" y="905060"/>
            <a:ext cx="11504094" cy="57217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1E5247-CFC6-1974-8A97-D7C60B7D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Errors: non-fatal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93546E-EB3B-4311-D8CE-A3F7226FA1C0}"/>
              </a:ext>
            </a:extLst>
          </p:cNvPr>
          <p:cNvSpPr txBox="1"/>
          <p:nvPr/>
        </p:nvSpPr>
        <p:spPr>
          <a:xfrm>
            <a:off x="5080000" y="905060"/>
            <a:ext cx="637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Hopefully, your error list won’t be this long. Errors with a </a:t>
            </a:r>
            <a:r>
              <a:rPr lang="en-US" sz="1000" dirty="0">
                <a:solidFill>
                  <a:srgbClr val="CCCC00"/>
                </a:solidFill>
              </a:rPr>
              <a:t>yellow</a:t>
            </a:r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background are non-fatal, and the search will execute with even this many, automatically applying the changes it mentions.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54417-3E01-407A-F858-8A3C055D1EFB}"/>
              </a:ext>
            </a:extLst>
          </p:cNvPr>
          <p:cNvSpPr txBox="1"/>
          <p:nvPr/>
        </p:nvSpPr>
        <p:spPr>
          <a:xfrm>
            <a:off x="5554980" y="5448300"/>
            <a:ext cx="30844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preview still shows you what the search bar sees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BE789C-34CF-E74F-B747-85F8C21AC87E}"/>
              </a:ext>
            </a:extLst>
          </p:cNvPr>
          <p:cNvSpPr txBox="1"/>
          <p:nvPr/>
        </p:nvSpPr>
        <p:spPr>
          <a:xfrm>
            <a:off x="7216140" y="2103120"/>
            <a:ext cx="4239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If the messages are taking up too much space, you can click the X on each to dismiss them, but they’ll automatically go away on your next search</a:t>
            </a:r>
          </a:p>
        </p:txBody>
      </p:sp>
    </p:spTree>
    <p:extLst>
      <p:ext uri="{BB962C8B-B14F-4D97-AF65-F5344CB8AC3E}">
        <p14:creationId xmlns:p14="http://schemas.microsoft.com/office/powerpoint/2010/main" val="4037728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3669-D863-6864-1A21-1202733B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53FA-3658-1012-7C1F-DB01C091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Errors: fatal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51CD2C-FD60-1CB8-BF63-F3F1EF2CA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53" y="905060"/>
            <a:ext cx="11645925" cy="5721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97319-FB44-95EE-0DE8-0B9399758BF0}"/>
              </a:ext>
            </a:extLst>
          </p:cNvPr>
          <p:cNvSpPr txBox="1"/>
          <p:nvPr/>
        </p:nvSpPr>
        <p:spPr>
          <a:xfrm>
            <a:off x="5204460" y="836480"/>
            <a:ext cx="6628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With just one </a:t>
            </a:r>
            <a:r>
              <a:rPr lang="en-US" sz="1000" dirty="0">
                <a:solidFill>
                  <a:srgbClr val="FF0000"/>
                </a:solidFill>
              </a:rPr>
              <a:t>red</a:t>
            </a:r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background error, your search won’t even execute. These usually mean the tool had no idea what you meant and needs your help to correct it.</a:t>
            </a:r>
          </a:p>
        </p:txBody>
      </p:sp>
    </p:spTree>
    <p:extLst>
      <p:ext uri="{BB962C8B-B14F-4D97-AF65-F5344CB8AC3E}">
        <p14:creationId xmlns:p14="http://schemas.microsoft.com/office/powerpoint/2010/main" val="1829035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C4B0-84E9-25AE-0E97-BA6E46ED1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E824-429E-E3AF-26B0-82FC6F41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visual query builder pages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9B3B5-9A87-9AFE-422B-E7DFF9D402F5}"/>
              </a:ext>
            </a:extLst>
          </p:cNvPr>
          <p:cNvSpPr txBox="1"/>
          <p:nvPr/>
        </p:nvSpPr>
        <p:spPr>
          <a:xfrm>
            <a:off x="854697" y="1173959"/>
            <a:ext cx="10221797" cy="280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The visual query builder (VQ) pages are the app’s three other pages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They are all mostly the same, but provide different form fields depending on what filters are available for their respective tables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Table controls are the same as those for the power search page (i.e., sorts, pagination, save to CSV)</a:t>
            </a: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7" name="Section Zoom 6">
                <a:extLst>
                  <a:ext uri="{FF2B5EF4-FFF2-40B4-BE49-F238E27FC236}">
                    <a16:creationId xmlns:a16="http://schemas.microsoft.com/office/drawing/2014/main" id="{A1A68066-76BC-A8B4-8119-5B7D4DC5251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2892866"/>
                  </p:ext>
                </p:extLst>
              </p:nvPr>
            </p:nvGraphicFramePr>
            <p:xfrm>
              <a:off x="0" y="4583284"/>
              <a:ext cx="4043940" cy="2274716"/>
            </p:xfrm>
            <a:graphic>
              <a:graphicData uri="http://schemas.microsoft.com/office/powerpoint/2016/sectionzoom">
                <psez:sectionZm>
                  <psez:sectionZmObj sectionId="{6CE7CD9C-2386-4479-8C34-F19D2C833D3C}">
                    <psez:zmPr id="{EE694489-654C-47F4-BDEC-80F482857DFE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43940" cy="22747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7" name="Section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1A68066-76BC-A8B4-8119-5B7D4DC525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4583284"/>
                <a:ext cx="4043940" cy="227471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9" name="Section Zoom 8">
                <a:extLst>
                  <a:ext uri="{FF2B5EF4-FFF2-40B4-BE49-F238E27FC236}">
                    <a16:creationId xmlns:a16="http://schemas.microsoft.com/office/drawing/2014/main" id="{ACEC8E6E-C1FE-1593-2A42-44E5243BC4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7533510"/>
                  </p:ext>
                </p:extLst>
              </p:nvPr>
            </p:nvGraphicFramePr>
            <p:xfrm>
              <a:off x="4104122" y="4583284"/>
              <a:ext cx="4043940" cy="2274716"/>
            </p:xfrm>
            <a:graphic>
              <a:graphicData uri="http://schemas.microsoft.com/office/powerpoint/2016/sectionzoom">
                <psez:sectionZm>
                  <psez:sectionZmObj sectionId="{E059FA79-F2B9-477F-B036-1CA427A041EF}">
                    <psez:zmPr id="{770175D1-B472-437A-B9EF-2F832070CA30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43940" cy="22747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9" name="Section Zoom 8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ACEC8E6E-C1FE-1593-2A42-44E5243BC4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04122" y="4583284"/>
                <a:ext cx="4043940" cy="227471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1" name="Section Zoom 10">
                <a:extLst>
                  <a:ext uri="{FF2B5EF4-FFF2-40B4-BE49-F238E27FC236}">
                    <a16:creationId xmlns:a16="http://schemas.microsoft.com/office/drawing/2014/main" id="{5CD22BF1-AEAC-FEE5-4293-D9AD56E3E7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77753115"/>
                  </p:ext>
                </p:extLst>
              </p:nvPr>
            </p:nvGraphicFramePr>
            <p:xfrm>
              <a:off x="8148062" y="4583284"/>
              <a:ext cx="4043940" cy="2274716"/>
            </p:xfrm>
            <a:graphic>
              <a:graphicData uri="http://schemas.microsoft.com/office/powerpoint/2016/sectionzoom">
                <psez:sectionZm>
                  <psez:sectionZmObj sectionId="{B3499BAD-9CFD-4299-BDA4-8843225530E5}">
                    <psez:zmPr id="{C2D22160-606A-45A4-B7AF-50A245F03E4E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43940" cy="22747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1" name="Section Zoom 1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5CD22BF1-AEAC-FEE5-4293-D9AD56E3E7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48062" y="4583284"/>
                <a:ext cx="4043940" cy="227471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A997920-62BD-3095-BA27-DD29BC763A8A}"/>
              </a:ext>
            </a:extLst>
          </p:cNvPr>
          <p:cNvSpPr txBox="1"/>
          <p:nvPr/>
        </p:nvSpPr>
        <p:spPr>
          <a:xfrm>
            <a:off x="4992493" y="4213952"/>
            <a:ext cx="206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are links btw</a:t>
            </a:r>
          </a:p>
        </p:txBody>
      </p:sp>
    </p:spTree>
    <p:extLst>
      <p:ext uri="{BB962C8B-B14F-4D97-AF65-F5344CB8AC3E}">
        <p14:creationId xmlns:p14="http://schemas.microsoft.com/office/powerpoint/2010/main" val="159422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7B5B-ED35-205A-CA2F-B72AA425E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F4E2-82E1-891C-B98B-A8588815B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Group table VQ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F2521-DB06-BB5F-3B87-432AE6D77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"/>
          <a:stretch>
            <a:fillRect/>
          </a:stretch>
        </p:blipFill>
        <p:spPr>
          <a:xfrm>
            <a:off x="329939" y="1027523"/>
            <a:ext cx="11635898" cy="58304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6A998E-2B29-4FF1-6DA3-71ADC3D31D54}"/>
              </a:ext>
            </a:extLst>
          </p:cNvPr>
          <p:cNvSpPr txBox="1"/>
          <p:nvPr/>
        </p:nvSpPr>
        <p:spPr>
          <a:xfrm>
            <a:off x="4164467" y="1413200"/>
            <a:ext cx="29402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Lower date granularity: only shift options for times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B17730-789C-9779-36F1-EA85D1494135}"/>
              </a:ext>
            </a:extLst>
          </p:cNvPr>
          <p:cNvSpPr txBox="1"/>
          <p:nvPr/>
        </p:nvSpPr>
        <p:spPr>
          <a:xfrm>
            <a:off x="5327650" y="2660650"/>
            <a:ext cx="2108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“=“ button toggles to ≠ for negation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CBD7A6-5162-FD24-B664-E28D5E842D2D}"/>
              </a:ext>
            </a:extLst>
          </p:cNvPr>
          <p:cNvSpPr txBox="1"/>
          <p:nvPr/>
        </p:nvSpPr>
        <p:spPr>
          <a:xfrm>
            <a:off x="9410700" y="3022600"/>
            <a:ext cx="2704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Automatically scrolls to “</a:t>
            </a:r>
            <a:r>
              <a:rPr lang="en-US" sz="10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fullscreen</a:t>
            </a:r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” the table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5C4DED-49E2-189E-2EC9-6F0F1813F73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762994" y="2906871"/>
            <a:ext cx="603506" cy="115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FC5FEA2-E198-6A41-6D2F-F5DC9B21FCBA}"/>
              </a:ext>
            </a:extLst>
          </p:cNvPr>
          <p:cNvSpPr txBox="1"/>
          <p:nvPr/>
        </p:nvSpPr>
        <p:spPr>
          <a:xfrm>
            <a:off x="2457178" y="2506761"/>
            <a:ext cx="219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Each dropdown contains only the result types present in the database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0679DD-33C3-0E29-0942-5AE8A9C79660}"/>
              </a:ext>
            </a:extLst>
          </p:cNvPr>
          <p:cNvSpPr txBox="1"/>
          <p:nvPr/>
        </p:nvSpPr>
        <p:spPr>
          <a:xfrm>
            <a:off x="7053895" y="1336255"/>
            <a:ext cx="23568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Click mm/dd/</a:t>
            </a:r>
            <a:r>
              <a:rPr lang="en-US" sz="10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yyyy</a:t>
            </a:r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 type, the calendar to choose from a calendar display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8C4CB3-E99E-6F6B-AB92-03A24EF471F0}"/>
              </a:ext>
            </a:extLst>
          </p:cNvPr>
          <p:cNvSpPr txBox="1"/>
          <p:nvPr/>
        </p:nvSpPr>
        <p:spPr>
          <a:xfrm>
            <a:off x="8337929" y="2537539"/>
            <a:ext cx="1253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Still just for date filter inclusivity</a:t>
            </a:r>
          </a:p>
        </p:txBody>
      </p:sp>
    </p:spTree>
    <p:extLst>
      <p:ext uri="{BB962C8B-B14F-4D97-AF65-F5344CB8AC3E}">
        <p14:creationId xmlns:p14="http://schemas.microsoft.com/office/powerpoint/2010/main" val="3505136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B73AD-B8EA-D737-3E9F-D93B02C7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E3F7-5CF7-0641-C92A-780A10592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table VQ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CC57B-D702-FD7E-7FAC-306A411E7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"/>
          <a:stretch>
            <a:fillRect/>
          </a:stretch>
        </p:blipFill>
        <p:spPr>
          <a:xfrm>
            <a:off x="314325" y="1022350"/>
            <a:ext cx="11599570" cy="583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8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E0CD0-C9DB-7EA0-FDC1-3183B397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5280-0382-B9E5-13A6-B12057E9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FCT table VQ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54A95-E8AC-B4D0-FC6C-C07F34714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48" y="994615"/>
            <a:ext cx="11659304" cy="586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07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839B491-29C4-40FE-B7E5-6C2ED8488D26}" vid="{BF49CCC8-C85E-4EC7-A8B6-D0BBC1EE53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TMM Presentation Template</Template>
  <TotalTime>15111</TotalTime>
  <Words>772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Courier New</vt:lpstr>
      <vt:lpstr>Wingdings</vt:lpstr>
      <vt:lpstr>Office Theme</vt:lpstr>
      <vt:lpstr>PowerPoint Presentation</vt:lpstr>
      <vt:lpstr>Table of Contents</vt:lpstr>
      <vt:lpstr>Splash screen/power search page</vt:lpstr>
      <vt:lpstr>Using the search bar</vt:lpstr>
      <vt:lpstr>Using the table</vt:lpstr>
      <vt:lpstr>Date aliases: substitution</vt:lpstr>
      <vt:lpstr>Date aliases: inclusivity</vt:lpstr>
      <vt:lpstr>Errors: non-fatal</vt:lpstr>
      <vt:lpstr>Errors: fatal</vt:lpstr>
      <vt:lpstr>The visual query builder pages</vt:lpstr>
      <vt:lpstr>Group table VQ page</vt:lpstr>
      <vt:lpstr>Step table VQ page</vt:lpstr>
      <vt:lpstr>FCT table VQ page</vt:lpstr>
    </vt:vector>
  </TitlesOfParts>
  <Company>Office365 Base Installer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&amp; Safety  Announcements</dc:title>
  <dc:creator>Wendy Cromer</dc:creator>
  <cp:lastModifiedBy>Eric McKay</cp:lastModifiedBy>
  <cp:revision>625</cp:revision>
  <dcterms:created xsi:type="dcterms:W3CDTF">2024-08-13T13:38:02Z</dcterms:created>
  <dcterms:modified xsi:type="dcterms:W3CDTF">2026-02-27T20:13:31Z</dcterms:modified>
</cp:coreProperties>
</file>